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Inter" panose="020B0604020202020204" charset="0"/>
      <p:regular r:id="rId39"/>
    </p:embeddedFont>
    <p:embeddedFont>
      <p:font typeface="Inter Bold" panose="020B0604020202020204" charset="0"/>
      <p:regular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04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07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12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68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9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28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45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8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6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20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70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911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38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05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44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674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71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37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587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661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40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101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242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028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9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9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10" Type="http://schemas.openxmlformats.org/officeDocument/2006/relationships/image" Target="../media/image77.svg"/><Relationship Id="rId4" Type="http://schemas.openxmlformats.org/officeDocument/2006/relationships/image" Target="../media/image71.svg"/><Relationship Id="rId9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2.png"/><Relationship Id="rId7" Type="http://schemas.openxmlformats.org/officeDocument/2006/relationships/image" Target="../media/image8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svg"/><Relationship Id="rId5" Type="http://schemas.openxmlformats.org/officeDocument/2006/relationships/image" Target="../media/image80.sv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7817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Precast Modular Product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5229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Plan Package 01–13 · คอนกรีตน้ำหนักเบา 1,200 kg/m³ · Prototype 01 Type 2 Senior Living</a:t>
            </a:r>
            <a:endParaRPr lang="th-TH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69755"/>
            <a:ext cx="147435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4126409"/>
            <a:ext cx="18571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LIVING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30282" y="4069755"/>
            <a:ext cx="96388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43687" y="4126409"/>
            <a:ext cx="13466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THAILAND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88622" y="4069755"/>
            <a:ext cx="12726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02027" y="4126409"/>
            <a:ext cx="16554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LIVING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7183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74595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บริษัทของเราเป็นเจ้าของ IP ผลิตภัณฑ์ การออกแบบ วิศวกรรม แบรนด์ การขาย และสัญญาลูกค้าอย่างครบถ้วน โดย Manufacturing Partner มีหน้าที่ผลิตเฉพาะจาก Released Order ที่ได้รับอนุมัติแล้วเท่านั้น</a:t>
            </a:r>
            <a:endParaRPr lang="th-TH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865834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306119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 มาตรฐาน</a:t>
            </a:r>
            <a:endParaRPr lang="th-TH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469878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70–80% เป็น Standard Platform ที่ควบคุมต้นทุนและระยะเวลาได้แม่นยำ</a:t>
            </a:r>
            <a:endParaRPr lang="th-TH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865834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3061196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Configurable ยืดหยุ่น</a:t>
            </a:r>
            <a:endParaRPr lang="th-TH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469878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20–30% สามารถปรับแต่งได้ตามความต้องการของลูกค้า ภายในกรอบที่กำหนด</a:t>
            </a:r>
            <a:endParaRPr lang="th-TH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761508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9568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Pilot 5 Orders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3655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เริ่มต้นด้วย 5 คำสั่งซื้อนำร่อง เพื่อพิสูจน์ระบบและสร้างความเชื่อมั่น</a:t>
            </a:r>
            <a:endParaRPr lang="th-TH" sz="1450" dirty="0"/>
          </a:p>
        </p:txBody>
      </p:sp>
      <p:sp>
        <p:nvSpPr>
          <p:cNvPr id="14" name="Text 11"/>
          <p:cNvSpPr/>
          <p:nvPr/>
        </p:nvSpPr>
        <p:spPr>
          <a:xfrm>
            <a:off x="6642331" y="6457255"/>
            <a:ext cx="84522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22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สถาปัตยกรรม 13 Package</a:t>
            </a:r>
            <a:endParaRPr lang="th-TH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42913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โครงสร้าง Master Plan แบ่งออกเป็น 5 กลุ่มหลักที่เชื่อมโยงกันอย่างเป็นระบบ ตั้งแต่รากฐานผลิตภัณฑ์ไปจนถึงการขยายระบบดิจิทัล</a:t>
            </a:r>
            <a:endParaRPr lang="th-TH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27076"/>
            <a:ext cx="7608102" cy="4279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91085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ห่วงโซ่ข้อมูลเริ่มต้นจาก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Code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Engineering Release → Customer Contract → Production Record → QC Inspection →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Warranty</a:t>
            </a:r>
            <a:endParaRPr lang="th-TH" sz="1000" dirty="0"/>
          </a:p>
        </p:txBody>
      </p:sp>
      <p:sp>
        <p:nvSpPr>
          <p:cNvPr id="6" name="Text 3"/>
          <p:cNvSpPr/>
          <p:nvPr/>
        </p:nvSpPr>
        <p:spPr>
          <a:xfrm>
            <a:off x="11212034" y="6457255"/>
            <a:ext cx="847406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191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Model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1348978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โมเดลธุรกิจออกแบบให้บริษัทของเราควบคุมคุณค่าหลักทั้งหมด ขณะที่ Partner มุ่งเน้นความเชี่ยวชาญด้านการผลิต และลูกค้าไม่สามารถติดต่อโรงงานโดยตรงได้</a:t>
            </a:r>
            <a:endParaRPr lang="th-TH" sz="1400" dirty="0"/>
          </a:p>
        </p:txBody>
      </p:sp>
      <p:sp>
        <p:nvSpPr>
          <p:cNvPr id="5" name="Shape 2"/>
          <p:cNvSpPr/>
          <p:nvPr/>
        </p:nvSpPr>
        <p:spPr>
          <a:xfrm>
            <a:off x="532097" y="2101056"/>
            <a:ext cx="3188116" cy="4102199"/>
          </a:xfrm>
          <a:prstGeom prst="roundRect">
            <a:avLst>
              <a:gd name="adj" fmla="val 4055"/>
            </a:avLst>
          </a:prstGeom>
          <a:solidFill>
            <a:srgbClr val="1A3A5C"/>
          </a:solidFill>
          <a:ln/>
        </p:spPr>
      </p:sp>
      <p:sp>
        <p:nvSpPr>
          <p:cNvPr id="6" name="Text 3"/>
          <p:cNvSpPr/>
          <p:nvPr/>
        </p:nvSpPr>
        <p:spPr>
          <a:xfrm>
            <a:off x="711579" y="2271613"/>
            <a:ext cx="28291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บริษัทของเรา — ควบคุม</a:t>
            </a:r>
            <a:endParaRPr lang="th-TH" sz="1750" dirty="0"/>
          </a:p>
        </p:txBody>
      </p:sp>
      <p:sp>
        <p:nvSpPr>
          <p:cNvPr id="7" name="Text 4"/>
          <p:cNvSpPr/>
          <p:nvPr/>
        </p:nvSpPr>
        <p:spPr>
          <a:xfrm>
            <a:off x="711579" y="2722662"/>
            <a:ext cx="2829152" cy="157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Intellectual Property (IP)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และ Engineering Release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ความสัมพันธ์กับลูกค้าและสัญญา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การอนุมัติการเปลี่ยนแปลงทุกรายการ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35324" y="2271613"/>
            <a:ext cx="292936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Manufacturing Partner — จัดหา</a:t>
            </a:r>
            <a:endParaRPr lang="th-TH" sz="1750" dirty="0"/>
          </a:p>
        </p:txBody>
      </p:sp>
      <p:sp>
        <p:nvSpPr>
          <p:cNvPr id="9" name="Text 6"/>
          <p:cNvSpPr/>
          <p:nvPr/>
        </p:nvSpPr>
        <p:spPr>
          <a:xfrm>
            <a:off x="4035324" y="3003153"/>
            <a:ext cx="2929360" cy="157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ข้อมูลวัสดุและกระบวนการผลิต</a:t>
            </a:r>
            <a:endParaRPr lang="th-TH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และ Production Records</a:t>
            </a:r>
            <a:endParaRPr lang="th-TH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QC และ NCR Management</a:t>
            </a:r>
            <a:endParaRPr lang="th-TH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ความสามารถในการผลิตตามสั่ง</a:t>
            </a:r>
            <a:endParaRPr lang="th-TH" sz="1400" dirty="0"/>
          </a:p>
        </p:txBody>
      </p:sp>
      <p:sp>
        <p:nvSpPr>
          <p:cNvPr id="10" name="Shape 7"/>
          <p:cNvSpPr/>
          <p:nvPr/>
        </p:nvSpPr>
        <p:spPr>
          <a:xfrm>
            <a:off x="4035324" y="4774406"/>
            <a:ext cx="2929360" cy="1236960"/>
          </a:xfrm>
          <a:prstGeom prst="roundRect">
            <a:avLst>
              <a:gd name="adj" fmla="val 6097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06" y="5035947"/>
            <a:ext cx="224427" cy="179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8716" y="4972745"/>
            <a:ext cx="216648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การเปลี่ยนแปลงจากลูกค้าต้องผ่านบริษัทเท่านั้น — ไม่มีการติดต่อโรงงานโดยตรง</a:t>
            </a:r>
            <a:endParaRPr lang="th-TH" sz="1400" dirty="0"/>
          </a:p>
        </p:txBody>
      </p:sp>
      <p:sp>
        <p:nvSpPr>
          <p:cNvPr id="13" name="Text 9"/>
          <p:cNvSpPr/>
          <p:nvPr/>
        </p:nvSpPr>
        <p:spPr>
          <a:xfrm>
            <a:off x="6637370" y="6457255"/>
            <a:ext cx="85018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01: Common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314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แกนกลางของระบบ Precast Modular ทั้งหมด Package 01 กำหนดมาตรฐานร่วมที่ทุก Product Type ต้องใช้ร่วมกัน เพื่อให้การผลิตและการประกอบเป็นไปอย่างแม่นยำและสอดคล้องกัน</a:t>
            </a:r>
            <a:endParaRPr lang="th-TH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061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0933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โครงสร้างและมิติ</a:t>
            </a:r>
            <a:endParaRPr lang="th-TH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61801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Dimensional Grid, Structural Family, Joints, Lifting Points และ Foundation Interface</a:t>
            </a:r>
            <a:endParaRPr lang="th-TH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50061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320933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Openings &amp; Wet Core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61801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ตำแหน่งช่องเปิด, Wet Core Zone และ MEP Zones มาตรฐาน</a:t>
            </a:r>
            <a:endParaRPr lang="th-TH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600873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30959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Waterproofing &amp; Tolerance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571827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ระบบกันน้ำและค่าความเผื่อทางวิศวกรรมที่กำหนดไว้อย่างชัดเจน</a:t>
            </a:r>
            <a:endParaRPr lang="th-TH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4600873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530959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 Traceability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71827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ระบบติดตามผลิตภัณฑ์ด้วย QR Code ครบทุก Module</a:t>
            </a:r>
            <a:endParaRPr lang="th-TH" sz="1450" dirty="0"/>
          </a:p>
        </p:txBody>
      </p:sp>
      <p:sp>
        <p:nvSpPr>
          <p:cNvPr id="16" name="Text 10"/>
          <p:cNvSpPr/>
          <p:nvPr/>
        </p:nvSpPr>
        <p:spPr>
          <a:xfrm>
            <a:off x="11216399" y="6457255"/>
            <a:ext cx="843041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7916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01: Product Types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433016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ระบบแบ่ง Product Type ออกเป็น 3 ระดับหลักและ 3 ระดับ Custom เพื่อตอบโจทย์ตลาดที่หลากหลาย</a:t>
            </a:r>
            <a:endParaRPr lang="th-TH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786731"/>
            <a:ext cx="6296860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38242" y="209857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978177" y="1956991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1 — Essential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978177" y="2265759"/>
            <a:ext cx="53817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ควบคุมต้นทุนและระยะเวลาผลิต เหมาะสำหรับตลาด Mass Market</a:t>
            </a:r>
            <a:endParaRPr lang="th-TH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814935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38242" y="321548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978177" y="2985195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2 — Elderly &amp; Comfort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978177" y="3293963"/>
            <a:ext cx="538178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ออกแบบเพื่อผู้สูงอายุ เน้น Accessible Design และความยืดหยุ่นในการใช้งาน — </a:t>
            </a:r>
            <a:r>
              <a:rPr lang="th-TH" alt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Prototype 01</a:t>
            </a:r>
            <a:endParaRPr lang="th-TH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020542"/>
            <a:ext cx="629686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38242" y="433238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978177" y="4190802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3 — Signature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5978177" y="4499570"/>
            <a:ext cx="53817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เพิ่ม Premium Façade และ Roof Design สำหรับตลาด High-End</a:t>
            </a:r>
            <a:endParaRPr lang="th-TH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048746"/>
            <a:ext cx="6296860" cy="9072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38242" y="536059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5978177" y="5219005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 Levels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978177" y="5527774"/>
            <a:ext cx="53817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Cosmetic / Configurational / Engineered Custom — ปรับแต่งตามขอบเขตที่กำหนด</a:t>
            </a:r>
            <a:endParaRPr lang="th-TH" sz="1150" dirty="0"/>
          </a:p>
        </p:txBody>
      </p:sp>
      <p:sp>
        <p:nvSpPr>
          <p:cNvPr id="21" name="Text 14"/>
          <p:cNvSpPr/>
          <p:nvPr/>
        </p:nvSpPr>
        <p:spPr>
          <a:xfrm>
            <a:off x="11212034" y="6457255"/>
            <a:ext cx="847406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81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02: Partner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68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ทุก Manufacturing PO ต้องอ้างอิงข้อมูลครบถ้วนตามรูปแบบที่กำหนด และสัญญา Partner ต้องครอบคลุมประเด็นสำคัญทั้งหมดก่อนเริ่มผลิต</a:t>
            </a:r>
            <a:endParaRPr lang="th-TH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009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Manufacturing PO ต้องระบุ</a:t>
            </a:r>
            <a:endParaRPr lang="th-TH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118247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108821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Code และ Revision ที่ได้รับอนุมัติ</a:t>
            </a:r>
            <a:endParaRPr lang="th-TH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072731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06330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Quantity, Delivery Schedule และเงื่อนไข Inspection</a:t>
            </a:r>
            <a:endParaRPr lang="th-TH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027216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5017790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อ้างอิง Released Engineering Package เท่านั้น</a:t>
            </a:r>
            <a:endParaRPr lang="th-TH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26009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สัญญา Partner ครอบคลุม</a:t>
            </a:r>
            <a:endParaRPr lang="th-TH" sz="1850" dirty="0"/>
          </a:p>
        </p:txBody>
      </p:sp>
      <p:sp>
        <p:nvSpPr>
          <p:cNvPr id="12" name="Text 7"/>
          <p:cNvSpPr/>
          <p:nvPr/>
        </p:nvSpPr>
        <p:spPr>
          <a:xfrm>
            <a:off x="6332776" y="3085207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Ownership และ Data Rights</a:t>
            </a:r>
            <a:endParaRPr lang="th-TH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Ownership</a:t>
            </a:r>
            <a:endParaRPr lang="th-TH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QA, NCR และ Warranty</a:t>
            </a:r>
            <a:endParaRPr lang="th-TH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Capacity Commitment</a:t>
            </a:r>
            <a:endParaRPr lang="th-TH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Non-Circumvention Clause</a:t>
            </a:r>
            <a:endParaRPr lang="th-TH" sz="1450" dirty="0"/>
          </a:p>
        </p:txBody>
      </p:sp>
      <p:sp>
        <p:nvSpPr>
          <p:cNvPr id="13" name="Text 8"/>
          <p:cNvSpPr/>
          <p:nvPr/>
        </p:nvSpPr>
        <p:spPr>
          <a:xfrm>
            <a:off x="11219971" y="6457255"/>
            <a:ext cx="83946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852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02 &amp; 04: Investment and Evidence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23677"/>
            <a:ext cx="1086874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th-TH" alt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ก่อนใช้งบประมาณ Prototype ต้องตกลงเงื่อนไขสำคัญให้ครบ และ Package 04 ใช้ระบบ Material Test Report (MTR) พร้อม Risk Register และ Prototype Gate เพื่อควบคุมคุณภาพอย่างเป็นระบบ</a:t>
            </a:r>
            <a:endParaRPr lang="th-TH" sz="1200" dirty="0"/>
          </a:p>
        </p:txBody>
      </p:sp>
      <p:sp>
        <p:nvSpPr>
          <p:cNvPr id="4" name="Shape 2"/>
          <p:cNvSpPr/>
          <p:nvPr/>
        </p:nvSpPr>
        <p:spPr>
          <a:xfrm>
            <a:off x="547674" y="1937246"/>
            <a:ext cx="5469098" cy="4233069"/>
          </a:xfrm>
          <a:prstGeom prst="roundRect">
            <a:avLst>
              <a:gd name="adj" fmla="val 2690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705825" y="2069505"/>
            <a:ext cx="51527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550" b="1" kern="0" spc="-4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ตกลงก่อนเริ่มลงทุน Prototype</a:t>
            </a:r>
            <a:endParaRPr lang="th-TH" sz="1550" dirty="0"/>
          </a:p>
        </p:txBody>
      </p:sp>
      <p:sp>
        <p:nvSpPr>
          <p:cNvPr id="6" name="Text 4"/>
          <p:cNvSpPr/>
          <p:nvPr/>
        </p:nvSpPr>
        <p:spPr>
          <a:xfrm>
            <a:off x="705825" y="2448917"/>
            <a:ext cx="5152797" cy="162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และ Confidentiality Agreement</a:t>
            </a:r>
            <a:endParaRPr lang="th-TH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Data Sharing Protocol</a:t>
            </a:r>
            <a:endParaRPr lang="th-TH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Control Process</a:t>
            </a:r>
            <a:endParaRPr lang="th-TH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Ownership</a:t>
            </a:r>
            <a:endParaRPr lang="th-TH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Data Rights</a:t>
            </a:r>
            <a:endParaRPr lang="th-TH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th-TH" altLang="en-US" sz="12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Cost Allocation</a:t>
            </a:r>
            <a:endParaRPr lang="th-TH" sz="1200" dirty="0"/>
          </a:p>
        </p:txBody>
      </p:sp>
      <p:sp>
        <p:nvSpPr>
          <p:cNvPr id="7" name="Text 5"/>
          <p:cNvSpPr/>
          <p:nvPr/>
        </p:nvSpPr>
        <p:spPr>
          <a:xfrm>
            <a:off x="6295074" y="2069505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04 — Evidence Framework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95074" y="2465487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7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5074" y="2715121"/>
            <a:ext cx="524149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6295074" y="2832298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MTR-001–024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95074" y="3211711"/>
            <a:ext cx="524149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th-TH" alt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Test Reports ครบทุกองค์ประกอบ</a:t>
            </a:r>
            <a:endParaRPr lang="th-TH" sz="1200" dirty="0"/>
          </a:p>
        </p:txBody>
      </p:sp>
      <p:sp>
        <p:nvSpPr>
          <p:cNvPr id="12" name="Text 10"/>
          <p:cNvSpPr/>
          <p:nvPr/>
        </p:nvSpPr>
        <p:spPr>
          <a:xfrm>
            <a:off x="6295074" y="3694906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7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5074" y="3944541"/>
            <a:ext cx="524149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95074" y="4061718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Register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95074" y="4441130"/>
            <a:ext cx="524149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th-TH" alt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บันทึกและติดตามความเสี่ยงตลอดโครงการ</a:t>
            </a:r>
            <a:endParaRPr lang="th-TH" sz="1200" dirty="0"/>
          </a:p>
        </p:txBody>
      </p:sp>
      <p:sp>
        <p:nvSpPr>
          <p:cNvPr id="16" name="Text 14"/>
          <p:cNvSpPr/>
          <p:nvPr/>
        </p:nvSpPr>
        <p:spPr>
          <a:xfrm>
            <a:off x="6295074" y="4924326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7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5074" y="5173960"/>
            <a:ext cx="524149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6295074" y="5291137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Prototype Gates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95074" y="5670550"/>
            <a:ext cx="524149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th-TH" alt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จุดตรวจสอบก่อนผ่านแต่ละขั้นตอน</a:t>
            </a:r>
            <a:endParaRPr lang="th-TH" sz="1200" dirty="0"/>
          </a:p>
        </p:txBody>
      </p:sp>
      <p:sp>
        <p:nvSpPr>
          <p:cNvPr id="20" name="Text 18"/>
          <p:cNvSpPr/>
          <p:nvPr/>
        </p:nvSpPr>
        <p:spPr>
          <a:xfrm>
            <a:off x="11212430" y="6457255"/>
            <a:ext cx="84700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7689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03: ต้นทุนและราคา</a:t>
            </a:r>
            <a:endParaRPr lang="th-TH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5101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การกำหนดโครงสร้างต้นทุนและราคาขายสำหรับ Package 03 ครอบคลุมทุกองค์ประกอบตั้งแต่การผลิตในโรงงานจนถึงการส่งมอบ โดยต้องใช้ข้อมูลจาก Package 08 เพื่อให้การคำนวณมีความสมบูรณ์</a:t>
            </a:r>
            <a:endParaRPr lang="th-TH" sz="1450" dirty="0"/>
          </a:p>
        </p:txBody>
      </p:sp>
      <p:sp>
        <p:nvSpPr>
          <p:cNvPr id="5" name="Text 2"/>
          <p:cNvSpPr/>
          <p:nvPr/>
        </p:nvSpPr>
        <p:spPr>
          <a:xfrm>
            <a:off x="6669119" y="6457255"/>
            <a:ext cx="818435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354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83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· Package 04: การควบคุมหลักฐาน</a:t>
            </a:r>
            <a:endParaRPr lang="th-TH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96976"/>
            <a:ext cx="169501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879" y="2053630"/>
            <a:ext cx="20777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CONTROL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49674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การควบคุมหลักฐานครอบคลุมทะเบียนทดสอบวัสดุ (MTR-001–024) ทะเบียนความเสี่ยงผลิตภัณฑ์ ประตูการพิสูจน์ต้นแบบ และคำขอข้อมูลจากพาร์ทเนอร์ โดยต้นแบบต้องสร้างหลักฐานใน 5 ด้านหลัก</a:t>
            </a:r>
            <a:endParaRPr lang="th-TH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1420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50956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918248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หลักฐานด้านวิศวกรรมและโครงสร้าง</a:t>
            </a:r>
            <a:endParaRPr lang="th-TH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31420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2716" y="350956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Manufacturing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42716" y="3918248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หลักฐานด้านกระบวนการผลิต</a:t>
            </a:r>
            <a:endParaRPr lang="th-TH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314204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8600" y="350956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8600" y="3918248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หลักฐานด้านต้นทุนและราคา</a:t>
            </a:r>
            <a:endParaRPr lang="th-TH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605040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480040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6832" y="520908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หลักฐานด้านลูกค้าและตลาด</a:t>
            </a:r>
            <a:endParaRPr lang="th-TH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605040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5658" y="480040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85658" y="520908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หลักฐานด้านการตลาด</a:t>
            </a:r>
            <a:endParaRPr lang="th-TH" sz="1450" dirty="0"/>
          </a:p>
        </p:txBody>
      </p:sp>
      <p:sp>
        <p:nvSpPr>
          <p:cNvPr id="21" name="Text 19"/>
          <p:cNvSpPr/>
          <p:nvPr/>
        </p:nvSpPr>
        <p:spPr>
          <a:xfrm>
            <a:off x="11214216" y="6457255"/>
            <a:ext cx="84522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1024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804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 · Package 05: การวางตำแหน่งต้นแบบ</a:t>
            </a:r>
            <a:endParaRPr lang="th-TH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3245247"/>
            <a:ext cx="189215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3301901"/>
            <a:ext cx="22749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2 · SENIOR LIVING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3745012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ต้นแบบถูกกำหนดเป็น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2 Senior Living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สำหรับกลุ่มผู้สูงอายุและที่พักพรีเมียมขนาดกะทัดรัด ครอบคลุมรูปแบบการใช้งาน 5 ประเภทหลัก ได้แก่ บ้านผู้สูงอายุ บ้านสวน เรือนรับรอง วิลล่ารีสอร์ท และที่พักพรีเมียมขนาดเล็ก แนวทางการออกแบบยึดแนวคิด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Warm Modern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สงบ พรีเมียม และเข้าถึงได้ โดยปราศจากรูปลักษณ์แบบโรงพยาบาล</a:t>
            </a:r>
            <a:endParaRPr lang="th-TH" sz="1450" dirty="0"/>
          </a:p>
        </p:txBody>
      </p:sp>
      <p:sp>
        <p:nvSpPr>
          <p:cNvPr id="7" name="Text 4"/>
          <p:cNvSpPr/>
          <p:nvPr/>
        </p:nvSpPr>
        <p:spPr>
          <a:xfrm>
            <a:off x="11213125" y="6457255"/>
            <a:ext cx="846315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9862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31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· Package 05: การกำหนดค่าโมดูล</a:t>
            </a:r>
            <a:endParaRPr lang="th-TH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22611"/>
            <a:ext cx="1357179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125" y="1576388"/>
            <a:ext cx="175146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157809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ข้อมูลเบื้องต้น (Preliminary)</a:t>
            </a:r>
            <a:endParaRPr lang="th-TH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0190"/>
            <a:ext cx="2805042" cy="14210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7954" y="2835077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จำนวนโมดูล</a:t>
            </a:r>
            <a:endParaRPr lang="th-TH" sz="1750" dirty="0"/>
          </a:p>
        </p:txBody>
      </p:sp>
      <p:sp>
        <p:nvSpPr>
          <p:cNvPr id="8" name="Text 5"/>
          <p:cNvSpPr/>
          <p:nvPr/>
        </p:nvSpPr>
        <p:spPr>
          <a:xfrm>
            <a:off x="967954" y="3286125"/>
            <a:ext cx="22936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โมดูล ขนาดโมดูลละ 3 × 6 ม. (โดยประมาณ)</a:t>
            </a:r>
            <a:endParaRPr lang="th-TH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7070" y="2630190"/>
            <a:ext cx="2805042" cy="14210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43549" y="2835077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พื้นที่รวม</a:t>
            </a:r>
            <a:endParaRPr lang="th-TH" sz="1750" dirty="0"/>
          </a:p>
        </p:txBody>
      </p:sp>
      <p:sp>
        <p:nvSpPr>
          <p:cNvPr id="11" name="Text 7"/>
          <p:cNvSpPr/>
          <p:nvPr/>
        </p:nvSpPr>
        <p:spPr>
          <a:xfrm>
            <a:off x="3943549" y="3286125"/>
            <a:ext cx="22936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Footprint ประมาณ 6 × 6 ม. · พื้นที่ใช้สอยปิดล้อม 34–36 ม²</a:t>
            </a:r>
            <a:endParaRPr lang="th-TH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21758"/>
            <a:ext cx="2805042" cy="17011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954" y="4426645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ผู้พักอาศัย</a:t>
            </a:r>
            <a:endParaRPr lang="th-TH" sz="1750" dirty="0"/>
          </a:p>
        </p:txBody>
      </p:sp>
      <p:sp>
        <p:nvSpPr>
          <p:cNvPr id="14" name="Text 9"/>
          <p:cNvSpPr/>
          <p:nvPr/>
        </p:nvSpPr>
        <p:spPr>
          <a:xfrm>
            <a:off x="967954" y="4877693"/>
            <a:ext cx="22936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ชั้นเดียว รองรับ 1–2 คน</a:t>
            </a:r>
            <a:endParaRPr lang="th-TH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7070" y="4221758"/>
            <a:ext cx="2805042" cy="17011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43549" y="4426645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ฟังก์ชันหลัก</a:t>
            </a:r>
            <a:endParaRPr lang="th-TH" sz="1750" dirty="0"/>
          </a:p>
        </p:txBody>
      </p:sp>
      <p:sp>
        <p:nvSpPr>
          <p:cNvPr id="17" name="Text 11"/>
          <p:cNvSpPr/>
          <p:nvPr/>
        </p:nvSpPr>
        <p:spPr>
          <a:xfrm>
            <a:off x="3943549" y="4877693"/>
            <a:ext cx="229368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ห้องนอน · ห้องน้ำ Accessible · ห้องนั่งเล่น · Pantry · Wet Core รวมกลุ่ม</a:t>
            </a:r>
            <a:endParaRPr lang="th-TH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883" y="2179141"/>
            <a:ext cx="4417307" cy="28717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01127" y="3735971"/>
            <a:ext cx="1327313" cy="1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โมดูล A 3×6 ม.</a:t>
            </a:r>
            <a:endParaRPr lang="th-TH" sz="1000" dirty="0"/>
          </a:p>
        </p:txBody>
      </p:sp>
      <p:sp>
        <p:nvSpPr>
          <p:cNvPr id="20" name="Text 13"/>
          <p:cNvSpPr/>
          <p:nvPr/>
        </p:nvSpPr>
        <p:spPr>
          <a:xfrm>
            <a:off x="8896852" y="2880570"/>
            <a:ext cx="1097246" cy="165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โมดูล B 3×6 ม.</a:t>
            </a:r>
            <a:endParaRPr lang="th-TH" sz="1000" dirty="0"/>
          </a:p>
        </p:txBody>
      </p:sp>
      <p:sp>
        <p:nvSpPr>
          <p:cNvPr id="21" name="Text 14"/>
          <p:cNvSpPr/>
          <p:nvPr/>
        </p:nvSpPr>
        <p:spPr>
          <a:xfrm>
            <a:off x="10182871" y="3724173"/>
            <a:ext cx="991060" cy="165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Footprint 6×6 ม.</a:t>
            </a:r>
            <a:endParaRPr lang="th-TH" sz="1000" dirty="0"/>
          </a:p>
        </p:txBody>
      </p:sp>
      <p:sp>
        <p:nvSpPr>
          <p:cNvPr id="22" name="Text 15"/>
          <p:cNvSpPr/>
          <p:nvPr/>
        </p:nvSpPr>
        <p:spPr>
          <a:xfrm>
            <a:off x="8991239" y="4296406"/>
            <a:ext cx="932069" cy="165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Wet Core กลาง</a:t>
            </a:r>
            <a:endParaRPr lang="th-TH" sz="1000" dirty="0"/>
          </a:p>
        </p:txBody>
      </p:sp>
      <p:sp>
        <p:nvSpPr>
          <p:cNvPr id="23" name="Text 16"/>
          <p:cNvSpPr/>
          <p:nvPr/>
        </p:nvSpPr>
        <p:spPr>
          <a:xfrm>
            <a:off x="11209256" y="6457255"/>
            <a:ext cx="85018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731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85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 · Package 06: ตัวเลือกแนวคิดการออกแบบ</a:t>
            </a:r>
            <a:endParaRPr lang="th-TH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47267"/>
            <a:ext cx="1624170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003921"/>
            <a:ext cx="20069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OPTIONS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44703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เปรียบเทียบตัวเลือก 3 แนวคิดในด้านการหมุนเวียนพื้นที่ ความเป็นส่วนตัว การจัดกลุ่ม Wet Core ความซับซ้อนในการผลิต การขนส่ง และต้นทุน โดย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 1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ได้รับการคัดเลือกเป็น Reference Direction</a:t>
            </a:r>
            <a:endParaRPr lang="th-TH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64495"/>
            <a:ext cx="2009923" cy="124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7429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 1 · Comfort &amp; Function ✓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515163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การหมุนเวียนชัดเจน ความสัมพันธ์ห้องนอน-ห้องน้ำดี เรขาคณิตเรียบง่าย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แนวทางที่เลือก</a:t>
            </a:r>
            <a:endParaRPr lang="th-TH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264495"/>
            <a:ext cx="2009923" cy="124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47429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 2 · Open Living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363135" y="515163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พื้นที่โล่งกว้าง เปิดโล่ง แต่ความเป็นส่วนตัวและความซับซ้อนในการผลิตสูงกว่า</a:t>
            </a:r>
            <a:endParaRPr lang="th-TH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264495"/>
            <a:ext cx="2009923" cy="124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47429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 3 · Courtyard / Signature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515163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เอกลักษณ์โดดเด่น มีลาน Courtyard แต่ต้นทุนและความซับซ้อนสูงสุด</a:t>
            </a:r>
            <a:endParaRPr lang="th-TH" sz="1450" dirty="0"/>
          </a:p>
        </p:txBody>
      </p:sp>
      <p:sp>
        <p:nvSpPr>
          <p:cNvPr id="15" name="Text 10"/>
          <p:cNvSpPr/>
          <p:nvPr/>
        </p:nvSpPr>
        <p:spPr>
          <a:xfrm>
            <a:off x="11216399" y="6457255"/>
            <a:ext cx="843041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8484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9047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 · Package 06: แนวทางที่เลือก</a:t>
            </a:r>
            <a:endParaRPr lang="th-TH" sz="3300" dirty="0"/>
          </a:p>
        </p:txBody>
      </p:sp>
      <p:sp>
        <p:nvSpPr>
          <p:cNvPr id="4" name="Shape 1"/>
          <p:cNvSpPr/>
          <p:nvPr/>
        </p:nvSpPr>
        <p:spPr>
          <a:xfrm>
            <a:off x="5233360" y="1390253"/>
            <a:ext cx="2303603" cy="258465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5335355" y="1441252"/>
            <a:ext cx="270919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DIRECTION · OPTION 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233360" y="1974056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เหตุผลในการเลือก</a:t>
            </a:r>
            <a:endParaRPr lang="th-TH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7157" y="2420392"/>
            <a:ext cx="255085" cy="2550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86094" y="2412008"/>
            <a:ext cx="23882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การหมุนเวียนภายในชัดเจน ไม่ซับซ้อน</a:t>
            </a:r>
            <a:endParaRPr lang="th-TH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7157" y="3245296"/>
            <a:ext cx="255085" cy="2550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86094" y="3236913"/>
            <a:ext cx="23882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ความสัมพันธ์ห้องนอน-ห้องน้ำที่ดี เหมาะกับผู้สูงอายุ</a:t>
            </a:r>
            <a:endParaRPr lang="th-TH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7157" y="4070201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86094" y="4061817"/>
            <a:ext cx="23882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บริการรวมกลุ่ม ลดความซับซ้อนงานระบบ MEP</a:t>
            </a:r>
            <a:endParaRPr lang="th-TH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7157" y="4895106"/>
            <a:ext cx="255085" cy="2550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86094" y="4886722"/>
            <a:ext cx="23882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เรขาคณิตเรียบง่าย เอื้อต่อการผลิตและขนส่ง</a:t>
            </a:r>
            <a:endParaRPr lang="th-TH" sz="1300" dirty="0"/>
          </a:p>
        </p:txBody>
      </p:sp>
      <p:sp>
        <p:nvSpPr>
          <p:cNvPr id="15" name="Text 8"/>
          <p:cNvSpPr/>
          <p:nvPr/>
        </p:nvSpPr>
        <p:spPr>
          <a:xfrm>
            <a:off x="8595601" y="1974056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แนวทางภายนอก</a:t>
            </a:r>
            <a:endParaRPr lang="th-TH" sz="1650" dirty="0"/>
          </a:p>
        </p:txBody>
      </p:sp>
      <p:sp>
        <p:nvSpPr>
          <p:cNvPr id="16" name="Shape 9"/>
          <p:cNvSpPr/>
          <p:nvPr/>
        </p:nvSpPr>
        <p:spPr>
          <a:xfrm>
            <a:off x="8595601" y="2412008"/>
            <a:ext cx="2940969" cy="1030188"/>
          </a:xfrm>
          <a:prstGeom prst="roundRect">
            <a:avLst>
              <a:gd name="adj" fmla="val 693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772008" y="2588419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Warm Modern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8772008" y="3007221"/>
            <a:ext cx="258815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ไม้ธรรมชาติ โทนอุ่น เส้นสะอาด</a:t>
            </a:r>
            <a:endParaRPr lang="th-TH" sz="1300" dirty="0"/>
          </a:p>
        </p:txBody>
      </p:sp>
      <p:sp>
        <p:nvSpPr>
          <p:cNvPr id="19" name="Shape 12"/>
          <p:cNvSpPr/>
          <p:nvPr/>
        </p:nvSpPr>
        <p:spPr>
          <a:xfrm>
            <a:off x="8595601" y="3595291"/>
            <a:ext cx="2940969" cy="1030188"/>
          </a:xfrm>
          <a:prstGeom prst="roundRect">
            <a:avLst>
              <a:gd name="adj" fmla="val 693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772008" y="3771702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Tropical Neutral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8772008" y="4190504"/>
            <a:ext cx="258815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สีทราย ชาร์โคล เข้ากับภูมิอากาศไทย</a:t>
            </a:r>
            <a:endParaRPr lang="th-TH" sz="1300" dirty="0"/>
          </a:p>
        </p:txBody>
      </p:sp>
      <p:sp>
        <p:nvSpPr>
          <p:cNvPr id="22" name="Shape 15"/>
          <p:cNvSpPr/>
          <p:nvPr/>
        </p:nvSpPr>
        <p:spPr>
          <a:xfrm>
            <a:off x="8595601" y="4797723"/>
            <a:ext cx="2940969" cy="1136055"/>
          </a:xfrm>
          <a:prstGeom prst="roundRect">
            <a:avLst>
              <a:gd name="adj" fmla="val 6289"/>
            </a:avLst>
          </a:prstGeom>
          <a:solidFill>
            <a:srgbClr val="FCF2B5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5658" y="5034955"/>
            <a:ext cx="212620" cy="17006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8335" y="4977904"/>
            <a:ext cx="221817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06 ยังต้องการชุด Controlled Drawing และ Image Set ที่สมบูรณ์</a:t>
            </a:r>
            <a:endParaRPr lang="th-TH" sz="1300" dirty="0"/>
          </a:p>
        </p:txBody>
      </p:sp>
      <p:sp>
        <p:nvSpPr>
          <p:cNvPr id="25" name="Text 17"/>
          <p:cNvSpPr/>
          <p:nvPr/>
        </p:nvSpPr>
        <p:spPr>
          <a:xfrm>
            <a:off x="11212430" y="6457255"/>
            <a:ext cx="84700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814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94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· Package 07: Design Freeze 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43236"/>
            <a:ext cx="2135333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125" y="1497013"/>
            <a:ext cx="252961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th-TH" altLang="en-US" sz="1100" kern="0" spc="-28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A · ยังไม่อนุญาตการผลิต</a:t>
            </a:r>
            <a:endParaRPr lang="th-TH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1907877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A กำหนดขอบเขตการออกแบบสำหรับการประสานงานวิศวกรรม โดยล็อกพารามิเตอร์หลักทั้งหมด แต่ </a:t>
            </a:r>
            <a:r>
              <a:rPr lang="th-TH" alt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ยังไม่เป็นการอนุญาตให้เริ่มการผลิต</a:t>
            </a:r>
            <a:endParaRPr lang="th-TH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79861"/>
            <a:ext cx="5349047" cy="15859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8249" y="2514501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4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6356" y="3098006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2 · 2 โมดูล</a:t>
            </a:r>
            <a:endParaRPr lang="th-TH" sz="1750" dirty="0"/>
          </a:p>
        </p:txBody>
      </p:sp>
      <p:sp>
        <p:nvSpPr>
          <p:cNvPr id="9" name="Text 6"/>
          <p:cNvSpPr/>
          <p:nvPr/>
        </p:nvSpPr>
        <p:spPr>
          <a:xfrm>
            <a:off x="866356" y="3480792"/>
            <a:ext cx="49392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กำหนดประเภทและจำนวนโมดูลอย่างเป็นทางการ</a:t>
            </a:r>
            <a:endParaRPr lang="th-TH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2379861"/>
            <a:ext cx="5349146" cy="15859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47948" y="2514501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4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385956" y="3098006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Nominal Envelopes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85956" y="3480792"/>
            <a:ext cx="4939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ล็อกขนาดกรอบโมดูลโดยประมาณ</a:t>
            </a:r>
            <a:endParaRPr lang="th-TH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36330"/>
            <a:ext cx="5349047" cy="15859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28249" y="4270970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4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66356" y="4854476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Storey · Step-Free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66356" y="5237262"/>
            <a:ext cx="49392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ยืนยันชั้นเดียว เส้นทางปราศจากขั้นบันได</a:t>
            </a:r>
            <a:endParaRPr lang="th-TH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4136330"/>
            <a:ext cx="5349146" cy="15859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47948" y="4270970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4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385956" y="4854476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Grouped Wet Core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6385956" y="5237262"/>
            <a:ext cx="4939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ล็อกตำแหน่งกลุ่มงานเปียกและ Reference Plan</a:t>
            </a:r>
            <a:endParaRPr lang="th-TH" sz="1400" dirty="0"/>
          </a:p>
        </p:txBody>
      </p:sp>
      <p:sp>
        <p:nvSpPr>
          <p:cNvPr id="22" name="Text 16"/>
          <p:cNvSpPr/>
          <p:nvPr/>
        </p:nvSpPr>
        <p:spPr>
          <a:xfrm>
            <a:off x="661475" y="5914132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A เป็นจุดควบคุมสำคัญเพื่อให้ทีมวิศวกรรม โครงสร้าง และ MEP สามารถเริ่มประสานงานรายละเอียดได้อย่างมั่นใจ</a:t>
            </a:r>
            <a:endParaRPr lang="th-TH" sz="1400" dirty="0"/>
          </a:p>
        </p:txBody>
      </p:sp>
      <p:sp>
        <p:nvSpPr>
          <p:cNvPr id="23" name="Text 17"/>
          <p:cNvSpPr/>
          <p:nvPr/>
        </p:nvSpPr>
        <p:spPr>
          <a:xfrm>
            <a:off x="11219772" y="6457255"/>
            <a:ext cx="839667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953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1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 · Package 07: วิศวกรรมและการตรวจสอบ</a:t>
            </a:r>
            <a:endParaRPr lang="th-TH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491853"/>
            <a:ext cx="184006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879" y="1548507"/>
            <a:ext cx="222284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CHECKS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1806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กรณีที่ต้องตรวจสอบ (Load Cases)</a:t>
            </a:r>
            <a:endParaRPr lang="th-TH" sz="1850" dirty="0"/>
          </a:p>
        </p:txBody>
      </p:sp>
      <p:sp>
        <p:nvSpPr>
          <p:cNvPr id="6" name="Text 4"/>
          <p:cNvSpPr/>
          <p:nvPr/>
        </p:nvSpPr>
        <p:spPr>
          <a:xfrm>
            <a:off x="732365" y="27239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5723" y="2753420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In-Service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3237706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สภาวะการใช้งานปกติ</a:t>
            </a:r>
            <a:endParaRPr lang="th-TH" sz="1450" dirty="0"/>
          </a:p>
        </p:txBody>
      </p:sp>
      <p:sp>
        <p:nvSpPr>
          <p:cNvPr id="9" name="Text 7"/>
          <p:cNvSpPr/>
          <p:nvPr/>
        </p:nvSpPr>
        <p:spPr>
          <a:xfrm>
            <a:off x="732365" y="395357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5723" y="398303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Lifting &amp; Transport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4467324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การยก การขนส่ง และการรองรับชั่วคราว</a:t>
            </a:r>
            <a:endParaRPr lang="th-TH" sz="1450" dirty="0"/>
          </a:p>
        </p:txBody>
      </p:sp>
      <p:sp>
        <p:nvSpPr>
          <p:cNvPr id="12" name="Text 10"/>
          <p:cNvSpPr/>
          <p:nvPr/>
        </p:nvSpPr>
        <p:spPr>
          <a:xfrm>
            <a:off x="732365" y="51831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5212655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Installation &amp; Foundation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5696942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การติดตั้งและฐานราก</a:t>
            </a:r>
            <a:endParaRPr lang="th-TH" sz="1450" dirty="0"/>
          </a:p>
        </p:txBody>
      </p:sp>
      <p:sp>
        <p:nvSpPr>
          <p:cNvPr id="15" name="Text 13"/>
          <p:cNvSpPr/>
          <p:nvPr/>
        </p:nvSpPr>
        <p:spPr>
          <a:xfrm>
            <a:off x="6332776" y="21806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จุดควบคุมหลัก (Control Points)</a:t>
            </a:r>
            <a:endParaRPr lang="th-TH" sz="1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7377" y="2663130"/>
            <a:ext cx="5229193" cy="83750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72582" y="2688530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น้ำหนักและช่องเปิด</a:t>
            </a:r>
            <a:endParaRPr lang="th-TH" sz="1850" dirty="0"/>
          </a:p>
        </p:txBody>
      </p:sp>
      <p:sp>
        <p:nvSpPr>
          <p:cNvPr id="18" name="Text 15"/>
          <p:cNvSpPr/>
          <p:nvPr/>
        </p:nvSpPr>
        <p:spPr>
          <a:xfrm>
            <a:off x="6572582" y="3172817"/>
            <a:ext cx="49639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ควบคุม Weight Budget และขนาด Openings ทุกจุด</a:t>
            </a:r>
            <a:endParaRPr lang="th-TH" sz="14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7377" y="3827859"/>
            <a:ext cx="5229193" cy="83750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72582" y="3853259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 J01 · Four-Point Lifting</a:t>
            </a:r>
            <a:endParaRPr lang="en-US" sz="1850" dirty="0"/>
          </a:p>
        </p:txBody>
      </p:sp>
      <p:sp>
        <p:nvSpPr>
          <p:cNvPr id="21" name="Text 17"/>
          <p:cNvSpPr/>
          <p:nvPr/>
        </p:nvSpPr>
        <p:spPr>
          <a:xfrm>
            <a:off x="6572582" y="4337546"/>
            <a:ext cx="49639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การเชื่อมต่อโมดูลและจุดยกสี่จุดต้องผ่านการคำนวณ</a:t>
            </a:r>
            <a:endParaRPr lang="th-TH" sz="14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7377" y="4992588"/>
            <a:ext cx="5229193" cy="8375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72582" y="5017988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MEP Penetrations &amp; Tolerances</a:t>
            </a:r>
            <a:endParaRPr lang="en-US" sz="1850" dirty="0"/>
          </a:p>
        </p:txBody>
      </p:sp>
      <p:sp>
        <p:nvSpPr>
          <p:cNvPr id="24" name="Text 19"/>
          <p:cNvSpPr/>
          <p:nvPr/>
        </p:nvSpPr>
        <p:spPr>
          <a:xfrm>
            <a:off x="6572582" y="5502275"/>
            <a:ext cx="49639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รูท่อระบบ MEP และค่าพิกัดความเผื่อต้องได้รับการควบคุม</a:t>
            </a:r>
            <a:endParaRPr lang="th-TH" sz="1450" dirty="0"/>
          </a:p>
        </p:txBody>
      </p:sp>
      <p:sp>
        <p:nvSpPr>
          <p:cNvPr id="25" name="Text 20"/>
          <p:cNvSpPr/>
          <p:nvPr/>
        </p:nvSpPr>
        <p:spPr>
          <a:xfrm>
            <a:off x="11213026" y="6457255"/>
            <a:ext cx="84641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24763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690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08: BOM โครงสร้างรายการวัสดุ</a:t>
            </a:r>
            <a:endParaRPr lang="th-TH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250752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 of Materials ครอบคลุม 2 กลุ่มหลัก ได้แก่ </a:t>
            </a:r>
            <a:r>
              <a:rPr lang="th-TH" alt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B01–B20</a:t>
            </a: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สำหรับโครงสร้างอาคาร และ </a:t>
            </a:r>
            <a:r>
              <a:rPr lang="th-TH" alt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C01–C09</a:t>
            </a: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สำหรับต้นทุนโครงการโดยรวม ครอบคลุมทุกมิติตั้งแต่เปลือกอาคารจนถึงการส่งมอบหน้างาน</a:t>
            </a:r>
            <a:endParaRPr lang="th-TH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1958181"/>
            <a:ext cx="1491816" cy="229691"/>
          </a:xfrm>
          <a:prstGeom prst="roundRect">
            <a:avLst>
              <a:gd name="adj" fmla="val 2212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752159" y="2003524"/>
            <a:ext cx="19200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th-TH" altLang="en-US" sz="9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B01–B20 | โครงสร้างอาคาร</a:t>
            </a:r>
            <a:endParaRPr lang="th-TH" sz="950" dirty="0"/>
          </a:p>
        </p:txBody>
      </p:sp>
      <p:sp>
        <p:nvSpPr>
          <p:cNvPr id="7" name="Shape 4"/>
          <p:cNvSpPr/>
          <p:nvPr/>
        </p:nvSpPr>
        <p:spPr>
          <a:xfrm>
            <a:off x="661475" y="2404170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858022" y="2323902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Shell &amp; Reinforcement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8022" y="2681089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เปลือกอาคาร, โครงเสริมแรง, Embeds และระบบยก (Lifting)</a:t>
            </a:r>
            <a:endParaRPr lang="th-TH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438624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858022" y="3358356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Joints &amp; Envelope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58022" y="3715544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รอยต่อโครงสร้าง, ผนังกันความร้อน และระบบฉนวน</a:t>
            </a:r>
            <a:endParaRPr lang="th-TH" sz="1150" dirty="0"/>
          </a:p>
        </p:txBody>
      </p:sp>
      <p:sp>
        <p:nvSpPr>
          <p:cNvPr id="13" name="Shape 10"/>
          <p:cNvSpPr/>
          <p:nvPr/>
        </p:nvSpPr>
        <p:spPr>
          <a:xfrm>
            <a:off x="661475" y="4473079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858022" y="4392811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Interiors &amp; MEP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58022" y="4749998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ห้องน้ำ, ครัว, ระบบไฟฟ้า-ประปา-เครื่องกล และงาน QA/QC</a:t>
            </a:r>
            <a:endParaRPr lang="th-TH" sz="1150" dirty="0"/>
          </a:p>
        </p:txBody>
      </p:sp>
      <p:sp>
        <p:nvSpPr>
          <p:cNvPr id="16" name="Shape 13"/>
          <p:cNvSpPr/>
          <p:nvPr/>
        </p:nvSpPr>
        <p:spPr>
          <a:xfrm>
            <a:off x="661475" y="5507534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14"/>
          <p:cNvSpPr/>
          <p:nvPr/>
        </p:nvSpPr>
        <p:spPr>
          <a:xfrm>
            <a:off x="858022" y="5427266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Tooling &amp; Factory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58022" y="5784453"/>
            <a:ext cx="27674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เครื่องมือผลิต และค่าใช้จ่าย Overhead โรงงาน</a:t>
            </a:r>
            <a:endParaRPr lang="th-TH" sz="1150" dirty="0"/>
          </a:p>
        </p:txBody>
      </p:sp>
      <p:sp>
        <p:nvSpPr>
          <p:cNvPr id="19" name="Shape 16"/>
          <p:cNvSpPr/>
          <p:nvPr/>
        </p:nvSpPr>
        <p:spPr>
          <a:xfrm>
            <a:off x="4000698" y="1958181"/>
            <a:ext cx="1453915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91381" y="2003524"/>
            <a:ext cx="18821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th-TH" altLang="en-US" sz="950" kern="0" spc="-24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C01–C09 | ต้นทุนโครงการ</a:t>
            </a:r>
            <a:endParaRPr lang="th-TH" sz="950" dirty="0"/>
          </a:p>
        </p:txBody>
      </p:sp>
      <p:sp>
        <p:nvSpPr>
          <p:cNvPr id="21" name="Shape 18"/>
          <p:cNvSpPr/>
          <p:nvPr/>
        </p:nvSpPr>
        <p:spPr>
          <a:xfrm>
            <a:off x="4000698" y="2404170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4197245" y="2323902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 &amp; Crane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197245" y="2681089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ค่าขนส่ง, ค่าเครน และการวางฐานราก (Foundation)</a:t>
            </a:r>
            <a:endParaRPr lang="th-TH" sz="1150" dirty="0"/>
          </a:p>
        </p:txBody>
      </p:sp>
      <p:sp>
        <p:nvSpPr>
          <p:cNvPr id="24" name="Shape 21"/>
          <p:cNvSpPr/>
          <p:nvPr/>
        </p:nvSpPr>
        <p:spPr>
          <a:xfrm>
            <a:off x="4000698" y="3438624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5" name="Text 22"/>
          <p:cNvSpPr/>
          <p:nvPr/>
        </p:nvSpPr>
        <p:spPr>
          <a:xfrm>
            <a:off x="4197245" y="3358356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&amp; Engineering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197245" y="3715544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งานหน้างาน, งานวิศวกรรม และการทดสอบ (Testing)</a:t>
            </a:r>
            <a:endParaRPr lang="th-TH" sz="1150" dirty="0"/>
          </a:p>
        </p:txBody>
      </p:sp>
      <p:sp>
        <p:nvSpPr>
          <p:cNvPr id="27" name="Shape 24"/>
          <p:cNvSpPr/>
          <p:nvPr/>
        </p:nvSpPr>
        <p:spPr>
          <a:xfrm>
            <a:off x="4000698" y="4473079"/>
            <a:ext cx="75603" cy="7560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8" name="Text 25"/>
          <p:cNvSpPr/>
          <p:nvPr/>
        </p:nvSpPr>
        <p:spPr>
          <a:xfrm>
            <a:off x="4197245" y="4392811"/>
            <a:ext cx="276743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&amp; Warranty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4197245" y="4749998"/>
            <a:ext cx="276743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ต้นทุนการขาย, การรับประกัน และค่า Contingency สำรอง</a:t>
            </a:r>
            <a:endParaRPr lang="th-TH" sz="1150" dirty="0"/>
          </a:p>
        </p:txBody>
      </p:sp>
      <p:sp>
        <p:nvSpPr>
          <p:cNvPr id="30" name="Text 27"/>
          <p:cNvSpPr/>
          <p:nvPr/>
        </p:nvSpPr>
        <p:spPr>
          <a:xfrm>
            <a:off x="6668425" y="6457255"/>
            <a:ext cx="819130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0782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20713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08: Cost Validation กระบวนการตรวจสอบต้นทุน</a:t>
            </a:r>
            <a:endParaRPr lang="th-TH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586508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กระบวนการ Cost Validation เป็นด่านควบคุมคุณภาพทางการเงิน ก่อนที่ราคาจะถูกเผยแพร่สู่ตลาด ทุกขั้นตอนต้องผ่านการอนุมัติจาก Commercial Gate</a:t>
            </a:r>
            <a:endParaRPr lang="th-TH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014" y="2050653"/>
            <a:ext cx="4407782" cy="20173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81054" y="3588920"/>
            <a:ext cx="827515" cy="15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เผยแพร่ราคา</a:t>
            </a:r>
            <a:endParaRPr lang="th-TH" sz="1000" dirty="0"/>
          </a:p>
        </p:txBody>
      </p:sp>
      <p:sp>
        <p:nvSpPr>
          <p:cNvPr id="7" name="Text 3"/>
          <p:cNvSpPr/>
          <p:nvPr/>
        </p:nvSpPr>
        <p:spPr>
          <a:xfrm>
            <a:off x="3938158" y="3588920"/>
            <a:ext cx="827516" cy="15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อนุมัติผู้บริหาร</a:t>
            </a:r>
            <a:endParaRPr lang="th-TH" sz="1000" dirty="0"/>
          </a:p>
        </p:txBody>
      </p:sp>
      <p:sp>
        <p:nvSpPr>
          <p:cNvPr id="8" name="Text 4"/>
          <p:cNvSpPr/>
          <p:nvPr/>
        </p:nvSpPr>
        <p:spPr>
          <a:xfrm>
            <a:off x="2900930" y="3588920"/>
            <a:ext cx="827515" cy="15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คำนวณต้นทุน</a:t>
            </a:r>
            <a:endParaRPr lang="th-TH" sz="1000" dirty="0"/>
          </a:p>
        </p:txBody>
      </p:sp>
      <p:sp>
        <p:nvSpPr>
          <p:cNvPr id="9" name="Text 5"/>
          <p:cNvSpPr/>
          <p:nvPr/>
        </p:nvSpPr>
        <p:spPr>
          <a:xfrm>
            <a:off x="1841031" y="3588920"/>
            <a:ext cx="827515" cy="15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0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ข้อมูลพันธมิตร</a:t>
            </a:r>
            <a:endParaRPr lang="th-TH" sz="1000" dirty="0"/>
          </a:p>
        </p:txBody>
      </p:sp>
      <p:sp>
        <p:nvSpPr>
          <p:cNvPr id="10" name="Shape 6"/>
          <p:cNvSpPr/>
          <p:nvPr/>
        </p:nvSpPr>
        <p:spPr>
          <a:xfrm>
            <a:off x="661475" y="4172148"/>
            <a:ext cx="2037208" cy="1104801"/>
          </a:xfrm>
          <a:prstGeom prst="roundRect">
            <a:avLst>
              <a:gd name="adj" fmla="val 503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2780" y="4323457"/>
            <a:ext cx="17345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 Input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780" y="4585692"/>
            <a:ext cx="173459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Rates, Quotations, Lead Times, Assumptions และ Exclusions</a:t>
            </a:r>
            <a:endParaRPr lang="th-TH" sz="1000" dirty="0"/>
          </a:p>
        </p:txBody>
      </p:sp>
      <p:sp>
        <p:nvSpPr>
          <p:cNvPr id="13" name="Shape 9"/>
          <p:cNvSpPr/>
          <p:nvPr/>
        </p:nvSpPr>
        <p:spPr>
          <a:xfrm>
            <a:off x="2791251" y="4172148"/>
            <a:ext cx="2037208" cy="1104801"/>
          </a:xfrm>
          <a:prstGeom prst="roundRect">
            <a:avLst>
              <a:gd name="adj" fmla="val 503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42556" y="4323457"/>
            <a:ext cx="17345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Calculation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42556" y="4585692"/>
            <a:ext cx="173459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ทีมต้นทุนคำนวณ Delivered Cost รวมค่าใช้จ่ายทั้งหมด</a:t>
            </a:r>
            <a:endParaRPr lang="th-TH" sz="1000" dirty="0"/>
          </a:p>
        </p:txBody>
      </p:sp>
      <p:sp>
        <p:nvSpPr>
          <p:cNvPr id="16" name="Shape 12"/>
          <p:cNvSpPr/>
          <p:nvPr/>
        </p:nvSpPr>
        <p:spPr>
          <a:xfrm>
            <a:off x="4921028" y="4172148"/>
            <a:ext cx="2037208" cy="1104801"/>
          </a:xfrm>
          <a:prstGeom prst="roundRect">
            <a:avLst>
              <a:gd name="adj" fmla="val 503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72332" y="4323457"/>
            <a:ext cx="17345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2332" y="4585692"/>
            <a:ext cx="173459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ฝ่ายบริหารกำหนด Gross Margin เป้าหมายอย่างเป็นทางการ</a:t>
            </a:r>
            <a:endParaRPr lang="th-TH" sz="1000" dirty="0"/>
          </a:p>
        </p:txBody>
      </p:sp>
      <p:sp>
        <p:nvSpPr>
          <p:cNvPr id="19" name="Shape 15"/>
          <p:cNvSpPr/>
          <p:nvPr/>
        </p:nvSpPr>
        <p:spPr>
          <a:xfrm>
            <a:off x="661475" y="5369520"/>
            <a:ext cx="6296760" cy="744835"/>
          </a:xfrm>
          <a:prstGeom prst="roundRect">
            <a:avLst>
              <a:gd name="adj" fmla="val 746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2780" y="5520829"/>
            <a:ext cx="599415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Gate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12780" y="5783064"/>
            <a:ext cx="599415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เผยแพร่ราคาได้ก็ต่อเมื่อผ่าน Validation และ Gate เท่านั้น</a:t>
            </a:r>
            <a:endParaRPr lang="th-TH" sz="1000" dirty="0"/>
          </a:p>
        </p:txBody>
      </p:sp>
      <p:sp>
        <p:nvSpPr>
          <p:cNvPr id="22" name="Text 18"/>
          <p:cNvSpPr/>
          <p:nvPr/>
        </p:nvSpPr>
        <p:spPr>
          <a:xfrm>
            <a:off x="6641140" y="6457255"/>
            <a:ext cx="84641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8927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069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35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09: Unit Economics เศรษฐศาสตร์ต่อหน่วย</a:t>
            </a:r>
            <a:endParaRPr lang="th-TH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082576"/>
            <a:ext cx="10868745" cy="365820"/>
          </a:xfrm>
          <a:prstGeom prst="roundRect">
            <a:avLst>
              <a:gd name="adj" fmla="val 13885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" y="1192213"/>
            <a:ext cx="151106" cy="120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4272" y="1190030"/>
            <a:ext cx="10964687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th-TH" alt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ตัวเลขทั้งหมดในการ์ดนี้เป็น </a:t>
            </a:r>
            <a:r>
              <a:rPr lang="th-TH" alt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Placeholder</a:t>
            </a:r>
            <a:r>
              <a:rPr lang="th-TH" alt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ยังไม่ใช่ราคาจริง รอการยืนยันจาก Cost Validation</a:t>
            </a:r>
            <a:endParaRPr lang="th-TH" sz="950" dirty="0"/>
          </a:p>
        </p:txBody>
      </p:sp>
      <p:sp>
        <p:nvSpPr>
          <p:cNvPr id="6" name="Text 3"/>
          <p:cNvSpPr/>
          <p:nvPr/>
        </p:nvSpPr>
        <p:spPr>
          <a:xfrm>
            <a:off x="1684395" y="1682849"/>
            <a:ext cx="3799189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1.00M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61475" y="2200374"/>
            <a:ext cx="58450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Price (THB)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2466677"/>
            <a:ext cx="5845029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ราคาฐานก่อนรวม Options</a:t>
            </a:r>
            <a:endParaRPr lang="th-TH" sz="950" dirty="0"/>
          </a:p>
        </p:txBody>
      </p:sp>
      <p:sp>
        <p:nvSpPr>
          <p:cNvPr id="9" name="Text 6"/>
          <p:cNvSpPr/>
          <p:nvPr/>
        </p:nvSpPr>
        <p:spPr>
          <a:xfrm>
            <a:off x="1684395" y="2840434"/>
            <a:ext cx="3799189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0.70M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661475" y="3357959"/>
            <a:ext cx="58450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Cost (THB)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1475" y="3624263"/>
            <a:ext cx="5845029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ต้นทุนผันแปรต่อหน่วย</a:t>
            </a:r>
            <a:endParaRPr lang="th-TH" sz="950" dirty="0"/>
          </a:p>
        </p:txBody>
      </p:sp>
      <p:sp>
        <p:nvSpPr>
          <p:cNvPr id="12" name="Text 9"/>
          <p:cNvSpPr/>
          <p:nvPr/>
        </p:nvSpPr>
        <p:spPr>
          <a:xfrm>
            <a:off x="1684395" y="3998020"/>
            <a:ext cx="3799189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30%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661475" y="4515545"/>
            <a:ext cx="58450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4781848"/>
            <a:ext cx="5845029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อัตรากำไรขั้นต้น</a:t>
            </a:r>
            <a:endParaRPr lang="th-TH" sz="950" dirty="0"/>
          </a:p>
        </p:txBody>
      </p:sp>
      <p:sp>
        <p:nvSpPr>
          <p:cNvPr id="15" name="Text 12"/>
          <p:cNvSpPr/>
          <p:nvPr/>
        </p:nvSpPr>
        <p:spPr>
          <a:xfrm>
            <a:off x="1684395" y="5155605"/>
            <a:ext cx="3799189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b="1" kern="0" spc="-9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3.00M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661475" y="5673130"/>
            <a:ext cx="58450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Investment (THB)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61475" y="5939433"/>
            <a:ext cx="5845029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เงินลงทุนเริ่มต้น (Placeholder)</a:t>
            </a:r>
            <a:endParaRPr lang="th-TH" sz="950" dirty="0"/>
          </a:p>
        </p:txBody>
      </p:sp>
      <p:sp>
        <p:nvSpPr>
          <p:cNvPr id="18" name="Text 15"/>
          <p:cNvSpPr/>
          <p:nvPr/>
        </p:nvSpPr>
        <p:spPr>
          <a:xfrm>
            <a:off x="6807923" y="1612702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สถานการณ์รวม Options</a:t>
            </a:r>
            <a:endParaRPr lang="th-TH" sz="11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923" y="1888728"/>
            <a:ext cx="4728647" cy="69205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92266" y="2022277"/>
            <a:ext cx="4410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พร้อม Options</a:t>
            </a:r>
            <a:endParaRPr lang="th-TH" sz="1150" dirty="0"/>
          </a:p>
        </p:txBody>
      </p:sp>
      <p:sp>
        <p:nvSpPr>
          <p:cNvPr id="21" name="Text 17"/>
          <p:cNvSpPr/>
          <p:nvPr/>
        </p:nvSpPr>
        <p:spPr>
          <a:xfrm>
            <a:off x="6992266" y="2288580"/>
            <a:ext cx="441075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1.10M THB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รายรับรวมตัวเลือกเสริม</a:t>
            </a:r>
            <a:endParaRPr lang="th-TH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923" y="2658070"/>
            <a:ext cx="4728647" cy="69205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92266" y="2791619"/>
            <a:ext cx="4410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พร้อม Options</a:t>
            </a:r>
            <a:endParaRPr lang="th-TH" sz="1150" dirty="0"/>
          </a:p>
        </p:txBody>
      </p:sp>
      <p:sp>
        <p:nvSpPr>
          <p:cNvPr id="24" name="Text 19"/>
          <p:cNvSpPr/>
          <p:nvPr/>
        </p:nvSpPr>
        <p:spPr>
          <a:xfrm>
            <a:off x="6992266" y="3057922"/>
            <a:ext cx="441075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0.76M THB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ต้นทุนรวมตัวเลือกเสริม</a:t>
            </a:r>
            <a:endParaRPr lang="th-TH" sz="9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923" y="3427413"/>
            <a:ext cx="4728647" cy="6920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2266" y="3560961"/>
            <a:ext cx="4410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Contribution Margin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992266" y="3827264"/>
            <a:ext cx="441075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0.34M THB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กำไรส่วนเพิ่มหลังรวม Options</a:t>
            </a:r>
            <a:endParaRPr lang="th-TH" sz="950" dirty="0"/>
          </a:p>
        </p:txBody>
      </p:sp>
      <p:sp>
        <p:nvSpPr>
          <p:cNvPr id="28" name="Text 22"/>
          <p:cNvSpPr/>
          <p:nvPr/>
        </p:nvSpPr>
        <p:spPr>
          <a:xfrm>
            <a:off x="11211835" y="6457255"/>
            <a:ext cx="847605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7457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85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09: Scenarios การวิเคราะห์สถานการณ์</a:t>
            </a:r>
            <a:endParaRPr lang="th-TH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226542"/>
            <a:ext cx="10868745" cy="421977"/>
          </a:xfrm>
          <a:prstGeom prst="roundRect">
            <a:avLst>
              <a:gd name="adj" fmla="val 13169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1363365"/>
            <a:ext cx="165294" cy="1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280" y="1352153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ตัวเลขทั้งหมดเป็น </a:t>
            </a:r>
            <a:r>
              <a:rPr lang="th-TH" alt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Placeholder</a:t>
            </a:r>
            <a:r>
              <a:rPr lang="th-TH" alt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ยังไม่ใช่ค่าจริง</a:t>
            </a:r>
            <a:endParaRPr lang="th-TH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184527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จุดคุ้มทุน (Break-even)</a:t>
            </a:r>
            <a:endParaRPr lang="th-TH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156123"/>
            <a:ext cx="2590239" cy="756444"/>
          </a:xfrm>
          <a:prstGeom prst="roundRect">
            <a:avLst>
              <a:gd name="adj" fmla="val 73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080" y="2294731"/>
            <a:ext cx="2313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~10 Units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080" y="2593975"/>
            <a:ext cx="2313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คืนทุน Initial Investment</a:t>
            </a:r>
            <a:endParaRPr lang="th-TH" sz="1000" dirty="0"/>
          </a:p>
        </p:txBody>
      </p:sp>
      <p:sp>
        <p:nvSpPr>
          <p:cNvPr id="10" name="Shape 7"/>
          <p:cNvSpPr/>
          <p:nvPr/>
        </p:nvSpPr>
        <p:spPr>
          <a:xfrm>
            <a:off x="3344283" y="2156123"/>
            <a:ext cx="2590239" cy="756444"/>
          </a:xfrm>
          <a:prstGeom prst="roundRect">
            <a:avLst>
              <a:gd name="adj" fmla="val 73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82888" y="2294731"/>
            <a:ext cx="2313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~14 Units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82888" y="2593975"/>
            <a:ext cx="2313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คืนทุนรวม Year 1 Fixed Cost</a:t>
            </a:r>
            <a:endParaRPr lang="th-TH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3016746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ปริมาณขาย 5 ปี (Units)</a:t>
            </a:r>
            <a:endParaRPr lang="th-TH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3327598"/>
            <a:ext cx="5273047" cy="1500188"/>
          </a:xfrm>
          <a:prstGeom prst="roundRect">
            <a:avLst>
              <a:gd name="adj" fmla="val 370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825" y="3333948"/>
            <a:ext cx="2630124" cy="743744"/>
          </a:xfrm>
          <a:custGeom>
            <a:avLst/>
            <a:gdLst/>
            <a:ahLst/>
            <a:cxnLst/>
            <a:rect l="l" t="t" r="r" b="b"/>
            <a:pathLst>
              <a:path w="2630124" h="743744">
                <a:moveTo>
                  <a:pt x="46310" y="0"/>
                </a:moveTo>
                <a:lnTo>
                  <a:pt x="2630124" y="0"/>
                </a:lnTo>
                <a:lnTo>
                  <a:pt x="2630124" y="743744"/>
                </a:lnTo>
                <a:lnTo>
                  <a:pt x="0" y="743744"/>
                </a:lnTo>
                <a:lnTo>
                  <a:pt x="0" y="46311"/>
                </a:lnTo>
                <a:arcTo wR="46310" hR="46311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6" name="Text 13"/>
          <p:cNvSpPr/>
          <p:nvPr/>
        </p:nvSpPr>
        <p:spPr>
          <a:xfrm>
            <a:off x="800080" y="3466207"/>
            <a:ext cx="236561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Conservative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0080" y="3765451"/>
            <a:ext cx="236561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หน่วย</a:t>
            </a:r>
            <a:endParaRPr lang="th-TH" sz="1000" dirty="0"/>
          </a:p>
        </p:txBody>
      </p:sp>
      <p:sp>
        <p:nvSpPr>
          <p:cNvPr id="18" name="Shape 15"/>
          <p:cNvSpPr/>
          <p:nvPr/>
        </p:nvSpPr>
        <p:spPr>
          <a:xfrm>
            <a:off x="3297949" y="3333948"/>
            <a:ext cx="2630223" cy="743744"/>
          </a:xfrm>
          <a:custGeom>
            <a:avLst/>
            <a:gdLst/>
            <a:ahLst/>
            <a:cxnLst/>
            <a:rect l="l" t="t" r="r" b="b"/>
            <a:pathLst>
              <a:path w="2630223" h="743744">
                <a:moveTo>
                  <a:pt x="0" y="0"/>
                </a:moveTo>
                <a:lnTo>
                  <a:pt x="2583914" y="0"/>
                </a:lnTo>
                <a:arcTo wR="46310" hR="46311" stAng="16200000" swAng="5400000"/>
                <a:lnTo>
                  <a:pt x="2630223" y="743744"/>
                </a:lnTo>
                <a:lnTo>
                  <a:pt x="0" y="743744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9" name="Shape 16"/>
          <p:cNvSpPr/>
          <p:nvPr/>
        </p:nvSpPr>
        <p:spPr>
          <a:xfrm>
            <a:off x="3297949" y="3333948"/>
            <a:ext cx="19050" cy="743744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0" name="Text 17"/>
          <p:cNvSpPr/>
          <p:nvPr/>
        </p:nvSpPr>
        <p:spPr>
          <a:xfrm>
            <a:off x="3430204" y="3466207"/>
            <a:ext cx="236571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30204" y="3765451"/>
            <a:ext cx="236571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360 หน่วย</a:t>
            </a:r>
            <a:endParaRPr lang="th-TH" sz="1000" dirty="0"/>
          </a:p>
        </p:txBody>
      </p:sp>
      <p:sp>
        <p:nvSpPr>
          <p:cNvPr id="22" name="Shape 19"/>
          <p:cNvSpPr/>
          <p:nvPr/>
        </p:nvSpPr>
        <p:spPr>
          <a:xfrm>
            <a:off x="667825" y="4077692"/>
            <a:ext cx="5260347" cy="743744"/>
          </a:xfrm>
          <a:custGeom>
            <a:avLst/>
            <a:gdLst/>
            <a:ahLst/>
            <a:cxnLst/>
            <a:rect l="l" t="t" r="r" b="b"/>
            <a:pathLst>
              <a:path w="5260347" h="743744">
                <a:moveTo>
                  <a:pt x="0" y="0"/>
                </a:moveTo>
                <a:lnTo>
                  <a:pt x="5260347" y="0"/>
                </a:lnTo>
                <a:lnTo>
                  <a:pt x="5260347" y="697433"/>
                </a:lnTo>
                <a:arcTo wR="46310" hR="46311" stAng="0" swAng="5400000"/>
                <a:lnTo>
                  <a:pt x="46310" y="743744"/>
                </a:lnTo>
                <a:arcTo wR="46310" hR="46311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3" name="Shape 20"/>
          <p:cNvSpPr/>
          <p:nvPr/>
        </p:nvSpPr>
        <p:spPr>
          <a:xfrm>
            <a:off x="667825" y="4077692"/>
            <a:ext cx="5260347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4" name="Text 21"/>
          <p:cNvSpPr/>
          <p:nvPr/>
        </p:nvSpPr>
        <p:spPr>
          <a:xfrm>
            <a:off x="800080" y="4209951"/>
            <a:ext cx="49958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Upside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0080" y="4509195"/>
            <a:ext cx="49958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710 หน่วย</a:t>
            </a:r>
            <a:endParaRPr lang="th-TH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23" y="1856879"/>
            <a:ext cx="3691044" cy="258742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263523" y="454848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การทดสอบ Downside</a:t>
            </a:r>
            <a:endParaRPr lang="th-TH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3131" y="4863405"/>
            <a:ext cx="198433" cy="19843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93427" y="4859338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Price −10%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693427" y="5158581"/>
            <a:ext cx="484314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ทดสอบผลกระทบเมื่อราคาขายลดลง 10% จากฐาน</a:t>
            </a:r>
            <a:endParaRPr lang="th-TH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3131" y="5527873"/>
            <a:ext cx="198433" cy="19843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93427" y="5523805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+10%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693427" y="5823049"/>
            <a:ext cx="484314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ทดสอบผลกระทบเมื่อต้นทุนสูงขึ้น 10% จากฐาน</a:t>
            </a:r>
            <a:endParaRPr lang="th-TH" sz="1000" dirty="0"/>
          </a:p>
        </p:txBody>
      </p:sp>
      <p:sp>
        <p:nvSpPr>
          <p:cNvPr id="34" name="Text 28"/>
          <p:cNvSpPr/>
          <p:nvPr/>
        </p:nvSpPr>
        <p:spPr>
          <a:xfrm>
            <a:off x="11208263" y="6457255"/>
            <a:ext cx="851176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2023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76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10: Go-to-Market กลยุทธ์สู่ตลาด</a:t>
            </a:r>
            <a:endParaRPr lang="th-TH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0638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นำเสนอผลิตภัณฑ์ในรูปแบบ </a:t>
            </a: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Configured Product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ควบคู่กับ </a:t>
            </a: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Site-specific Services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เพื่อตอบสนองทุกกลุ่มลูกค้าเป้าหมายอย่างครบวงจร</a:t>
            </a:r>
            <a:endParaRPr lang="th-TH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3807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Portfolio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1719858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915815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002631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274391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ผลิตภัณฑ์มาตรฐานพร้อมเข้าอยู่</a:t>
            </a:r>
            <a:endParaRPr lang="th-TH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2608362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2804319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891135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162895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ตัวเลือกเสริมที่ลูกค้าปรับแต่งได้</a:t>
            </a:r>
            <a:endParaRPr lang="th-TH" sz="950" dirty="0"/>
          </a:p>
        </p:txBody>
      </p:sp>
      <p:sp>
        <p:nvSpPr>
          <p:cNvPr id="13" name="Text 11"/>
          <p:cNvSpPr/>
          <p:nvPr/>
        </p:nvSpPr>
        <p:spPr>
          <a:xfrm>
            <a:off x="661475" y="349686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475" y="3692823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77963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Package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4051399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งานระบบและโครงสร้างพื้นฐานหน้างาน</a:t>
            </a:r>
            <a:endParaRPr lang="th-TH" sz="950" dirty="0"/>
          </a:p>
        </p:txBody>
      </p:sp>
      <p:sp>
        <p:nvSpPr>
          <p:cNvPr id="17" name="Text 15"/>
          <p:cNvSpPr/>
          <p:nvPr/>
        </p:nvSpPr>
        <p:spPr>
          <a:xfrm>
            <a:off x="661475" y="438537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4581327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668143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4939903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บริการวิศวกรรมและการออกแบบ</a:t>
            </a:r>
            <a:endParaRPr lang="th-TH" sz="950" dirty="0"/>
          </a:p>
        </p:txBody>
      </p:sp>
      <p:sp>
        <p:nvSpPr>
          <p:cNvPr id="21" name="Text 19"/>
          <p:cNvSpPr/>
          <p:nvPr/>
        </p:nvSpPr>
        <p:spPr>
          <a:xfrm>
            <a:off x="661475" y="5273873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1475" y="5469830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55664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Engineered Custom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475" y="5828407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งานออกแบบพิเศษตามความต้องการเฉพาะ</a:t>
            </a:r>
            <a:endParaRPr lang="th-TH" sz="950" dirty="0"/>
          </a:p>
        </p:txBody>
      </p:sp>
      <p:sp>
        <p:nvSpPr>
          <p:cNvPr id="25" name="Text 23"/>
          <p:cNvSpPr/>
          <p:nvPr/>
        </p:nvSpPr>
        <p:spPr>
          <a:xfrm>
            <a:off x="6252014" y="143807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กลุ่มตลาดเป้าหมาย</a:t>
            </a:r>
            <a:endParaRPr lang="th-TH" sz="12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2014" y="1719858"/>
            <a:ext cx="307074" cy="30708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58900" y="1719858"/>
            <a:ext cx="48776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Senior Living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58900" y="1991618"/>
            <a:ext cx="487767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ที่พักผู้สูงอายุคุณภาพสูง เน้น Accessibility และ Safety</a:t>
            </a:r>
            <a:endParaRPr lang="th-TH" sz="9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2014" y="2313384"/>
            <a:ext cx="307074" cy="30708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58900" y="2313384"/>
            <a:ext cx="48776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Garden Home &amp; Guest House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658900" y="2585145"/>
            <a:ext cx="487767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บ้านสวน บ้านพักแขก และ Resort Premium</a:t>
            </a:r>
            <a:endParaRPr lang="th-TH" sz="9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2014" y="2906911"/>
            <a:ext cx="307074" cy="30708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58900" y="2906911"/>
            <a:ext cx="48776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Compact Residence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658900" y="3178671"/>
            <a:ext cx="487767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ที่พักอาศัยพรีเมียมขนาดกะทัดรัด ในทำเลศักยภาพ</a:t>
            </a:r>
            <a:endParaRPr lang="th-TH" sz="950" dirty="0"/>
          </a:p>
        </p:txBody>
      </p:sp>
      <p:sp>
        <p:nvSpPr>
          <p:cNvPr id="35" name="Text 30"/>
          <p:cNvSpPr/>
          <p:nvPr/>
        </p:nvSpPr>
        <p:spPr>
          <a:xfrm>
            <a:off x="11215010" y="6457255"/>
            <a:ext cx="844430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5245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81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10: Customer Journey เส้นทางลูกค้า</a:t>
            </a:r>
            <a:endParaRPr lang="th-TH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51434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กระบวนการทั้งหมด 14 ขั้นตอน ตั้งแต่การรับรู้แบรนด์จนถึงการแนะนำต่อ โดยมีการประเมินสถานะหน้างานเป็น </a:t>
            </a:r>
            <a:r>
              <a:rPr lang="th-TH" alt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GREEN / AMBER / RED</a:t>
            </a:r>
            <a:r>
              <a:rPr lang="th-TH" alt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เพื่อควบคุมความเสี่ยงก่อนทำสัญญา</a:t>
            </a:r>
            <a:endParaRPr lang="th-TH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03350"/>
            <a:ext cx="7064595" cy="39739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467052"/>
            <a:ext cx="3569702" cy="660301"/>
          </a:xfrm>
          <a:prstGeom prst="roundRect">
            <a:avLst>
              <a:gd name="adj" fmla="val 7815"/>
            </a:avLst>
          </a:prstGeom>
          <a:solidFill>
            <a:srgbClr val="22543D"/>
          </a:solidFill>
          <a:ln w="6350">
            <a:solidFill>
              <a:srgbClr val="3B6D5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654" y="5596235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2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GREEN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654" y="5836047"/>
            <a:ext cx="33113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หน้างานพร้อม ดำเนินการได้ทันที</a:t>
            </a:r>
            <a:endParaRPr lang="th-TH" sz="950" dirty="0"/>
          </a:p>
        </p:txBody>
      </p:sp>
      <p:sp>
        <p:nvSpPr>
          <p:cNvPr id="8" name="Shape 5"/>
          <p:cNvSpPr/>
          <p:nvPr/>
        </p:nvSpPr>
        <p:spPr>
          <a:xfrm>
            <a:off x="4310947" y="5467052"/>
            <a:ext cx="3569702" cy="660301"/>
          </a:xfrm>
          <a:prstGeom prst="roundRect">
            <a:avLst>
              <a:gd name="adj" fmla="val 7815"/>
            </a:avLst>
          </a:prstGeom>
          <a:solidFill>
            <a:srgbClr val="744210"/>
          </a:solidFill>
          <a:ln w="6350">
            <a:solidFill>
              <a:srgbClr val="8D5B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0126" y="5596235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2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AMBER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40126" y="5836047"/>
            <a:ext cx="33113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ต้องแก้ไขเงื่อนไขก่อนอนุมัติ</a:t>
            </a:r>
            <a:endParaRPr lang="th-TH" sz="950" dirty="0"/>
          </a:p>
        </p:txBody>
      </p:sp>
      <p:sp>
        <p:nvSpPr>
          <p:cNvPr id="11" name="Shape 8"/>
          <p:cNvSpPr/>
          <p:nvPr/>
        </p:nvSpPr>
        <p:spPr>
          <a:xfrm>
            <a:off x="7960419" y="5467052"/>
            <a:ext cx="3569801" cy="660301"/>
          </a:xfrm>
          <a:prstGeom prst="roundRect">
            <a:avLst>
              <a:gd name="adj" fmla="val 7815"/>
            </a:avLst>
          </a:prstGeom>
          <a:solidFill>
            <a:srgbClr val="742A2A"/>
          </a:solidFill>
          <a:ln w="6350">
            <a:solidFill>
              <a:srgbClr val="8D43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89598" y="5596235"/>
            <a:ext cx="3311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2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89598" y="5836047"/>
            <a:ext cx="33114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th-TH" altLang="en-US" sz="95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หน้างานไม่ผ่าน ระงับการดำเนินการ</a:t>
            </a:r>
            <a:endParaRPr lang="th-TH" sz="950" dirty="0"/>
          </a:p>
        </p:txBody>
      </p:sp>
      <p:sp>
        <p:nvSpPr>
          <p:cNvPr id="14" name="Text 11"/>
          <p:cNvSpPr/>
          <p:nvPr/>
        </p:nvSpPr>
        <p:spPr>
          <a:xfrm>
            <a:off x="11211537" y="6457255"/>
            <a:ext cx="847902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8351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771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11: Sales Toolkit ชุดเครื่องมือขาย</a:t>
            </a:r>
            <a:endParaRPr lang="th-TH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160066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ชุดเอกสารและเครื่องมือ ST01–ST12 ออกแบบให้ข้อมูลไหลเวียนต่อเนื่องโดยไม่ต้องพิมพ์ซ้ำ ลดความผิดพลาดและเพิ่มประสิทธิภาพทีมขาย</a:t>
            </a:r>
            <a:endParaRPr lang="th-TH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624211"/>
            <a:ext cx="6296860" cy="9248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2743" y="1962547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302313" y="1775520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ST01–ST03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302313" y="2037755"/>
            <a:ext cx="550471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Page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แผ่นข้อมูลผลิตภัณฑ์,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Needs Analysis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แบบสอบถามความต้องการ,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Showroom Guide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คู่มือห้องตัวอย่าง</a:t>
            </a:r>
            <a:endParaRPr lang="th-TH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41600"/>
            <a:ext cx="6296860" cy="9248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2743" y="297993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302313" y="2792909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ST04–ST06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302313" y="3055144"/>
            <a:ext cx="550471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Assessment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แบบประเมินหน้างาน,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Configuration Tool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เครื่องมือเลือก Spec,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Quote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ใบเสนอราคาเบื้องต้น</a:t>
            </a:r>
            <a:endParaRPr lang="th-TH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58989"/>
            <a:ext cx="6296860" cy="9248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743" y="399732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302313" y="3810298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ST07–ST09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302313" y="4072533"/>
            <a:ext cx="550471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Matrix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ตารางกำหนดขอบเขต,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 Order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ใบสั่งเปลี่ยนแปลงงาน,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Handover Checklist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รายการตรวจรับมอบ</a:t>
            </a:r>
            <a:endParaRPr lang="th-TH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676378"/>
            <a:ext cx="6296860" cy="9248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2743" y="501471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302313" y="4827687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ST10–ST12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302313" y="5089922"/>
            <a:ext cx="550471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Warranty Register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ทะเบียนการรับประกัน,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CRM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ระบบจัดการลูกค้า, </a:t>
            </a:r>
            <a:r>
              <a:rPr lang="th-TH" altLang="en-US" sz="10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Register</a:t>
            </a:r>
            <a:r>
              <a:rPr lang="th-TH" alt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ทะเบียนข้อร้องเรียน</a:t>
            </a:r>
            <a:endParaRPr lang="th-TH" sz="1000" dirty="0"/>
          </a:p>
        </p:txBody>
      </p:sp>
      <p:sp>
        <p:nvSpPr>
          <p:cNvPr id="21" name="Shape 14"/>
          <p:cNvSpPr/>
          <p:nvPr/>
        </p:nvSpPr>
        <p:spPr>
          <a:xfrm>
            <a:off x="661475" y="5705376"/>
            <a:ext cx="6296860" cy="421977"/>
          </a:xfrm>
          <a:prstGeom prst="roundRect">
            <a:avLst>
              <a:gd name="adj" fmla="val 13169"/>
            </a:avLst>
          </a:prstGeom>
          <a:solidFill>
            <a:srgbClr val="DADBF1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30" y="5842198"/>
            <a:ext cx="165294" cy="13225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91280" y="5830987"/>
            <a:ext cx="634438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th-TH" alt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ข้อมูลต้องไหลต่อเนื่องระหว่างเครื่องมือทุกชิ้น — </a:t>
            </a:r>
            <a:r>
              <a:rPr lang="th-TH" alt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ห้ามพิมพ์ข้อมูลซ้ำในระบบใดก็ตาม</a:t>
            </a:r>
            <a:endParaRPr lang="th-TH" sz="1000" dirty="0"/>
          </a:p>
        </p:txBody>
      </p:sp>
      <p:sp>
        <p:nvSpPr>
          <p:cNvPr id="24" name="Text 16"/>
          <p:cNvSpPr/>
          <p:nvPr/>
        </p:nvSpPr>
        <p:spPr>
          <a:xfrm>
            <a:off x="6646994" y="6457255"/>
            <a:ext cx="840560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37176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535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11: Commercial Control การควบคุมเชิงพาณิชย์</a:t>
            </a:r>
            <a:endParaRPr lang="th-TH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1467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กรอบการควบคุมเชิงพาณิชย์แบ่งต้นทุนและขอบเขตออกอย่างชัดเจน เพื่อป้องกันความเข้าใจผิด ควบคุมการเปลี่ยนแปลง และรักษาความสมบูรณ์ของราคาตลอดโครงการ</a:t>
            </a:r>
            <a:endParaRPr lang="th-TH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32138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059039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การแบ่งหมวดต้นทุน</a:t>
            </a:r>
            <a:endParaRPr lang="th-TH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67721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แยก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Base, Options, Site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และ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ออกจากกันอย่างชัดเจน ทุกหมวดมีราคาและเงื่อนไขที่ระบุไว้แยกต่างหาก ป้องกันการรวมต้นทุนที่คลุมเครือ</a:t>
            </a:r>
            <a:endParaRPr lang="th-TH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3132138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405903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Matrix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467721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เอกสารกำหนดขอบเขตงานที่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ระบุชัดว่ารวม (Included)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และ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ไม่รวม (Excluded)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เพื่อหลีกเลี่ยงข้อพิพาทภายหลังการลงนามสัญญา</a:t>
            </a:r>
            <a:endParaRPr lang="th-TH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3132138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405903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 Order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67721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ทุกการเปลี่ยนแปลงต้องผ่าน Change Order อย่างเป็นทางการ ควบคุมทั้ง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ราคา, ระยะเวลา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และ </a:t>
            </a:r>
            <a:r>
              <a:rPr lang="th-TH" alt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รอบการแก้ไข</a:t>
            </a: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ก่อนดำเนินการ</a:t>
            </a:r>
            <a:endParaRPr lang="th-TH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3132138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405903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Register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467721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ทะเบียนข้อร้องเรียนป้องกันการให้คำมั่นสัญญาทางการตลาดที่ไม่มีเอกสารสนับสนุน รักษาความน่าเชื่อถือและลดความเสี่ยงทางกฎหมาย</a:t>
            </a:r>
            <a:endParaRPr lang="th-TH" sz="1450" dirty="0"/>
          </a:p>
        </p:txBody>
      </p:sp>
      <p:sp>
        <p:nvSpPr>
          <p:cNvPr id="16" name="Text 10"/>
          <p:cNvSpPr/>
          <p:nvPr/>
        </p:nvSpPr>
        <p:spPr>
          <a:xfrm>
            <a:off x="11213026" y="6457255"/>
            <a:ext cx="84641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4086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4255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12: Manufacturing Workflow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20732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กระบวนการผลิตครบวงจร ตั้งแต่ MO-00 ถึง MO-14 ครอบคลุมทุกขั้นตอนสำคัญ — ตั้งแต่การส่งมอบงานจากฝ่ายขาย การลงทะเบียน การตรวจสอบหน้างาน การ Design Freeze การอนุมัติการผลิต การจัดซื้อ งานก่อนเทคอนกรีต การหล่อ การถอดแบบ งาน MEP การทดสอบ FAT การจัดส่ง การขนส่ง การติดตั้ง การส่งมอบ และการรับประกัน</a:t>
            </a:r>
            <a:endParaRPr lang="th-TH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629620"/>
            <a:ext cx="6296860" cy="23628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21134" y="5327421"/>
            <a:ext cx="949741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MO-14 ส่งมอบ &amp; รับประกัน</a:t>
            </a:r>
            <a:endParaRPr lang="th-TH" sz="1150" dirty="0"/>
          </a:p>
        </p:txBody>
      </p:sp>
      <p:sp>
        <p:nvSpPr>
          <p:cNvPr id="7" name="Text 3"/>
          <p:cNvSpPr/>
          <p:nvPr/>
        </p:nvSpPr>
        <p:spPr>
          <a:xfrm>
            <a:off x="9124201" y="5327421"/>
            <a:ext cx="949741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MO-10 MEP &amp; FAT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933773" y="5327421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MO-07 งานก่อนเทา</a:t>
            </a:r>
            <a:endParaRPr lang="th-TH" sz="1150" dirty="0"/>
          </a:p>
        </p:txBody>
      </p:sp>
      <p:sp>
        <p:nvSpPr>
          <p:cNvPr id="9" name="Text 5"/>
          <p:cNvSpPr/>
          <p:nvPr/>
        </p:nvSpPr>
        <p:spPr>
          <a:xfrm>
            <a:off x="6743345" y="5235941"/>
            <a:ext cx="949740" cy="548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MO-04 Design Freeze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526897" y="5327421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h-TH" altLang="en-US" sz="1150" b="1" kern="0" spc="-3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MO-00 ส่งมอบงาน</a:t>
            </a:r>
            <a:endParaRPr lang="th-TH" sz="1150" dirty="0"/>
          </a:p>
        </p:txBody>
      </p:sp>
      <p:sp>
        <p:nvSpPr>
          <p:cNvPr id="11" name="Text 7"/>
          <p:cNvSpPr/>
          <p:nvPr/>
        </p:nvSpPr>
        <p:spPr>
          <a:xfrm>
            <a:off x="11241005" y="6457255"/>
            <a:ext cx="818435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99863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56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12: Gates และ Traceability</a:t>
            </a:r>
            <a:endParaRPr lang="th-TH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8666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th-TH" alt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ระบบควบคุมคุณภาพด้วย Gate G0–G8 ตั้งแต่ </a:t>
            </a:r>
            <a:r>
              <a:rPr lang="th-TH" alt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Accepted</a:t>
            </a:r>
            <a:r>
              <a:rPr lang="th-TH" alt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จนถึง </a:t>
            </a:r>
            <a:r>
              <a:rPr lang="th-TH" alt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Handover Accepted</a:t>
            </a:r>
            <a:r>
              <a:rPr lang="th-TH" alt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ทุก Gate ต้องผ่านการอนุมัติก่อนดำเนินงานต่อ หลักการสำคัญ: </a:t>
            </a:r>
            <a:r>
              <a:rPr lang="th-TH" alt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Release, No Work</a:t>
            </a:r>
            <a:endParaRPr lang="th-TH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17713"/>
            <a:ext cx="5366112" cy="1760934"/>
          </a:xfrm>
          <a:prstGeom prst="roundRect">
            <a:avLst>
              <a:gd name="adj" fmla="val 383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456" y="2184698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&amp; Module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8456" y="2517577"/>
            <a:ext cx="5032150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Order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Order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Serial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64108" y="2017713"/>
            <a:ext cx="5366112" cy="1760934"/>
          </a:xfrm>
          <a:prstGeom prst="roundRect">
            <a:avLst>
              <a:gd name="adj" fmla="val 383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1089" y="2184698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&amp; Material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31089" y="2517577"/>
            <a:ext cx="5032150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Drawing / BOM Revision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Lot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Batch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475" y="3915172"/>
            <a:ext cx="5366112" cy="1475482"/>
          </a:xfrm>
          <a:prstGeom prst="roundRect">
            <a:avLst>
              <a:gd name="adj" fmla="val 4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56" y="4082157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Inspection &amp; Test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8456" y="4415036"/>
            <a:ext cx="5032150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Record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 / SAT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4108" y="3915172"/>
            <a:ext cx="5366112" cy="1475482"/>
          </a:xfrm>
          <a:prstGeom prst="roundRect">
            <a:avLst>
              <a:gd name="adj" fmla="val 4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1089" y="4082157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Closure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31089" y="4415036"/>
            <a:ext cx="50321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Record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Sign-off G8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5544245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739011"/>
            <a:ext cx="200814" cy="160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3551" y="5720854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th-TH" alt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หลักการสำคัญ: </a:t>
            </a:r>
            <a:r>
              <a:rPr lang="th-TH" altLang="en-US" sz="1250" b="1" kern="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Release, No Work</a:t>
            </a:r>
            <a:r>
              <a:rPr lang="th-TH" alt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ทุกขั้นตอนต้องผ่าน Gate ก่อนดำเนินการต่อ</a:t>
            </a:r>
            <a:endParaRPr lang="th-TH" sz="1250" dirty="0"/>
          </a:p>
        </p:txBody>
      </p:sp>
      <p:sp>
        <p:nvSpPr>
          <p:cNvPr id="19" name="Text 16"/>
          <p:cNvSpPr/>
          <p:nvPr/>
        </p:nvSpPr>
        <p:spPr>
          <a:xfrm>
            <a:off x="11213621" y="6457255"/>
            <a:ext cx="84581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9396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51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12: Quality และ Logistics</a:t>
            </a:r>
            <a:endParaRPr lang="th-TH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332309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ITP — Inspection &amp; Test Plan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1689497"/>
            <a:ext cx="296398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ตรวจสอบครอบคลุมทุกจุดวิกฤต ได้แก่ วัสดุ แบบหล่อ เหล็กเสริม งาน Embeds งานก่อนเทคอนกรีต คอนกรีต การถอดแบบ มิติ งาน MEP Envelope และ FAT</a:t>
            </a:r>
            <a:endParaRPr lang="th-TH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2681188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ระดับ NCR</a:t>
            </a:r>
            <a:endParaRPr lang="th-TH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53457"/>
            <a:ext cx="2963987" cy="915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79814" y="3223716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479814" y="3580904"/>
            <a:ext cx="25472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หยุดงานทันที</a:t>
            </a:r>
            <a:endParaRPr lang="th-TH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089797"/>
            <a:ext cx="2963987" cy="9153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79814" y="4260056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Major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479814" y="4617244"/>
            <a:ext cx="25472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แก้ไขก่อนส่งมอบ</a:t>
            </a:r>
            <a:endParaRPr lang="th-TH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126137"/>
            <a:ext cx="2963987" cy="9153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79814" y="5296396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Minor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479814" y="5653584"/>
            <a:ext cx="254727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บันทึกและติดตาม</a:t>
            </a:r>
            <a:endParaRPr lang="th-TH" sz="1150" dirty="0"/>
          </a:p>
        </p:txBody>
      </p:sp>
      <p:sp>
        <p:nvSpPr>
          <p:cNvPr id="16" name="Text 10"/>
          <p:cNvSpPr/>
          <p:nvPr/>
        </p:nvSpPr>
        <p:spPr>
          <a:xfrm>
            <a:off x="8572583" y="1332309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Logistics — จุดควบคุมหลัก</a:t>
            </a:r>
            <a:endParaRPr lang="th-TH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9236" y="1709192"/>
            <a:ext cx="226808" cy="2268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64001" y="1704578"/>
            <a:ext cx="24725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 Planning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9064001" y="2061766"/>
            <a:ext cx="247256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วางแผนเส้นทางและข้อจำกัด</a:t>
            </a:r>
            <a:endParaRPr lang="th-TH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9236" y="2525961"/>
            <a:ext cx="226808" cy="2268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064001" y="2521347"/>
            <a:ext cx="24725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Restraint &amp; Crane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9064001" y="2878534"/>
            <a:ext cx="247256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ระบบยึดและลิฟต์</a:t>
            </a:r>
            <a:endParaRPr lang="th-TH" sz="11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9236" y="3342729"/>
            <a:ext cx="226808" cy="22681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064001" y="3338116"/>
            <a:ext cx="24725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Ground &amp; Weather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9064001" y="3695303"/>
            <a:ext cx="247256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สภาพพื้นและสภาพอากาศ</a:t>
            </a:r>
            <a:endParaRPr lang="th-TH" sz="11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9236" y="4159498"/>
            <a:ext cx="226808" cy="22681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064001" y="4154884"/>
            <a:ext cx="24725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Exclusion Zone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9064001" y="4512072"/>
            <a:ext cx="247256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th-TH" alt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เขตห้ามเข้าในพื้นที่ติดตั้ง</a:t>
            </a:r>
            <a:endParaRPr lang="th-TH" sz="1150" dirty="0"/>
          </a:p>
        </p:txBody>
      </p:sp>
      <p:sp>
        <p:nvSpPr>
          <p:cNvPr id="29" name="Text 19"/>
          <p:cNvSpPr/>
          <p:nvPr/>
        </p:nvSpPr>
        <p:spPr>
          <a:xfrm>
            <a:off x="11212430" y="6457255"/>
            <a:ext cx="84700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90640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250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13: Proposed Digital Toolkit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714798"/>
            <a:ext cx="963985" cy="272752"/>
          </a:xfrm>
          <a:prstGeom prst="roundRect">
            <a:avLst>
              <a:gd name="adj" fmla="val 22121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769125" y="1768574"/>
            <a:ext cx="135827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179439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แปลงแบบฟอร์ม MOF-01–MOF-20 ให้เป็นระบบดิจิทัลเต็มรูปแบบ พร้อมการบันทึกผ่านมือถือ ระบบสิทธิ์ และ Audit Trail ครบถ้วน</a:t>
            </a:r>
            <a:endParaRPr lang="th-TH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51423"/>
            <a:ext cx="448854" cy="4488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313509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Order Register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1475" y="3696295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ระบบลงทะเบียนคำสั่งผลิตดิจิทัล พร้อม Module QR และ Revision Control</a:t>
            </a:r>
            <a:endParaRPr lang="th-TH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2651423"/>
            <a:ext cx="448854" cy="4488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02406" y="3313509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Traveler &amp; ITP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02406" y="3696295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ใบติดตามงานและแผนตรวจสอบแบบดิจิทัล บันทึกได้ทุกจุดผ่านมือถือ</a:t>
            </a:r>
            <a:endParaRPr lang="th-TH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17504"/>
            <a:ext cx="448854" cy="4488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4979591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NCR &amp; FAT Records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61475" y="5362377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บันทึก Non-Conformance และผล FAT แบบ Real-time พร้อม Audit Trail</a:t>
            </a:r>
            <a:endParaRPr lang="th-TH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2406" y="4317504"/>
            <a:ext cx="448854" cy="4488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02406" y="4979591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Dispatch &amp; Warranty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202406" y="5362377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ติดตามการจัดส่ง SAT และบันทึกการรับประกันแบบดิจิทัลครบวงจร</a:t>
            </a:r>
            <a:endParaRPr lang="th-TH" sz="1400" dirty="0"/>
          </a:p>
        </p:txBody>
      </p:sp>
      <p:sp>
        <p:nvSpPr>
          <p:cNvPr id="18" name="Text 12"/>
          <p:cNvSpPr/>
          <p:nvPr/>
        </p:nvSpPr>
        <p:spPr>
          <a:xfrm>
            <a:off x="11209256" y="6457255"/>
            <a:ext cx="850184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4380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6659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13: Dashboard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1393726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มุมมองผู้บริหาร ครอบคลุม Gate G0–G8 ตำแหน่ง Module ทุกชิ้น และ Planned vs. Actual Milestones ทุก Traffic Light มาจากข้อมูล Source Records จริง</a:t>
            </a:r>
            <a:endParaRPr lang="th-TH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2145804"/>
            <a:ext cx="3063104" cy="1034554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331641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GREEN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714427"/>
            <a:ext cx="269144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ดำเนินตามแผน ไม่มีปัญหาคั่งค้าง</a:t>
            </a:r>
            <a:endParaRPr lang="th-TH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145804"/>
            <a:ext cx="3063203" cy="1034554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331641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AMBER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2714427"/>
            <a:ext cx="269153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มีความเสี่ยง ต้องติดตามและแก้ไข</a:t>
            </a:r>
            <a:endParaRPr lang="th-TH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3350915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3536752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3919538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เกินแผน ต้องการการตัดสินใจระดับผู้บริหาร</a:t>
            </a:r>
            <a:endParaRPr lang="th-TH" sz="1400" dirty="0"/>
          </a:p>
        </p:txBody>
      </p:sp>
      <p:sp>
        <p:nvSpPr>
          <p:cNvPr id="14" name="Text 11"/>
          <p:cNvSpPr/>
          <p:nvPr/>
        </p:nvSpPr>
        <p:spPr>
          <a:xfrm>
            <a:off x="661475" y="474791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KPI หลักที่แสดงใน Dashboard</a:t>
            </a:r>
            <a:endParaRPr lang="th-TH" sz="1750" dirty="0"/>
          </a:p>
        </p:txBody>
      </p:sp>
      <p:sp>
        <p:nvSpPr>
          <p:cNvPr id="15" name="Text 12"/>
          <p:cNvSpPr/>
          <p:nvPr/>
        </p:nvSpPr>
        <p:spPr>
          <a:xfrm>
            <a:off x="661475" y="5198963"/>
            <a:ext cx="2929360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ต้นทุน vs. แผน และ NCR Count</a:t>
            </a:r>
            <a:endParaRPr lang="th-TH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First-Pass Yield และ Dispatch Status</a:t>
            </a:r>
            <a:endParaRPr lang="th-TH" sz="1400" dirty="0"/>
          </a:p>
        </p:txBody>
      </p:sp>
      <p:sp>
        <p:nvSpPr>
          <p:cNvPr id="16" name="Text 13"/>
          <p:cNvSpPr/>
          <p:nvPr/>
        </p:nvSpPr>
        <p:spPr>
          <a:xfrm>
            <a:off x="4035324" y="474791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สถานะหน้างาน</a:t>
            </a:r>
            <a:endParaRPr lang="th-TH" sz="1750" dirty="0"/>
          </a:p>
        </p:txBody>
      </p:sp>
      <p:sp>
        <p:nvSpPr>
          <p:cNvPr id="17" name="Text 14"/>
          <p:cNvSpPr/>
          <p:nvPr/>
        </p:nvSpPr>
        <p:spPr>
          <a:xfrm>
            <a:off x="4035324" y="5198963"/>
            <a:ext cx="2929360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Readiness และ Punch List</a:t>
            </a:r>
            <a:endParaRPr lang="th-TH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th-TH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Status ทุก Module</a:t>
            </a:r>
            <a:endParaRPr lang="th-TH" sz="1400" dirty="0"/>
          </a:p>
        </p:txBody>
      </p:sp>
      <p:sp>
        <p:nvSpPr>
          <p:cNvPr id="18" name="Text 15"/>
          <p:cNvSpPr/>
          <p:nvPr/>
        </p:nvSpPr>
        <p:spPr>
          <a:xfrm>
            <a:off x="6644315" y="6457255"/>
            <a:ext cx="843239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310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6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Pilot: 5 Orders และแผน 30-60-90 วัน</a:t>
            </a:r>
            <a:endParaRPr lang="th-TH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4343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2381488" y="2476401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2181567" y="283081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2457" y="28662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1576288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1984970"/>
            <a:ext cx="30874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— เรียนรู้กระบวนการจริง</a:t>
            </a:r>
            <a:endParaRPr lang="th-TH" sz="1450" dirty="0"/>
          </a:p>
        </p:txBody>
      </p:sp>
      <p:sp>
        <p:nvSpPr>
          <p:cNvPr id="9" name="Shape 7"/>
          <p:cNvSpPr/>
          <p:nvPr/>
        </p:nvSpPr>
        <p:spPr>
          <a:xfrm>
            <a:off x="4232268" y="3043436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4032348" y="283081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03238" y="28662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01262" y="3799483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701262" y="4208165"/>
            <a:ext cx="30874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— ควบคุมและปรับปรุง</a:t>
            </a:r>
            <a:endParaRPr lang="th-TH" sz="1450" dirty="0"/>
          </a:p>
        </p:txBody>
      </p:sp>
      <p:sp>
        <p:nvSpPr>
          <p:cNvPr id="14" name="Shape 12"/>
          <p:cNvSpPr/>
          <p:nvPr/>
        </p:nvSpPr>
        <p:spPr>
          <a:xfrm>
            <a:off x="6083148" y="2476401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3227" y="283081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4117" y="28662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2142" y="1576288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552142" y="1984970"/>
            <a:ext cx="30874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&amp; Time Baseline — กำหนดฐาน</a:t>
            </a:r>
            <a:endParaRPr lang="th-TH" sz="1450" dirty="0"/>
          </a:p>
        </p:txBody>
      </p:sp>
      <p:sp>
        <p:nvSpPr>
          <p:cNvPr id="19" name="Shape 17"/>
          <p:cNvSpPr/>
          <p:nvPr/>
        </p:nvSpPr>
        <p:spPr>
          <a:xfrm>
            <a:off x="7933928" y="3043436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34007" y="283081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4897" y="28662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2922" y="3799483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402922" y="4208165"/>
            <a:ext cx="30874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— ทดสอบความเสถียร</a:t>
            </a:r>
            <a:endParaRPr lang="th-TH" sz="1450" dirty="0"/>
          </a:p>
        </p:txBody>
      </p:sp>
      <p:sp>
        <p:nvSpPr>
          <p:cNvPr id="24" name="Shape 22"/>
          <p:cNvSpPr/>
          <p:nvPr/>
        </p:nvSpPr>
        <p:spPr>
          <a:xfrm>
            <a:off x="9784808" y="2476401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9584887" y="283081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5777" y="28662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53801" y="1576288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8253801" y="1984970"/>
            <a:ext cx="30874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Readiness — พร้อมขยาย</a:t>
            </a:r>
            <a:endParaRPr lang="th-TH" sz="1450" dirty="0"/>
          </a:p>
        </p:txBody>
      </p:sp>
      <p:sp>
        <p:nvSpPr>
          <p:cNvPr id="29" name="Shape 27"/>
          <p:cNvSpPr/>
          <p:nvPr/>
        </p:nvSpPr>
        <p:spPr>
          <a:xfrm>
            <a:off x="661475" y="4723209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825" y="4729559"/>
            <a:ext cx="3618616" cy="1391543"/>
          </a:xfrm>
          <a:custGeom>
            <a:avLst/>
            <a:gdLst/>
            <a:ahLst/>
            <a:cxnLst/>
            <a:rect l="l" t="t" r="r" b="b"/>
            <a:pathLst>
              <a:path w="3618616" h="1391543">
                <a:moveTo>
                  <a:pt x="66156" y="0"/>
                </a:moveTo>
                <a:lnTo>
                  <a:pt x="3618616" y="0"/>
                </a:lnTo>
                <a:lnTo>
                  <a:pt x="3618616" y="1391543"/>
                </a:lnTo>
                <a:lnTo>
                  <a:pt x="66156" y="139154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31" name="Text 29"/>
          <p:cNvSpPr/>
          <p:nvPr/>
        </p:nvSpPr>
        <p:spPr>
          <a:xfrm>
            <a:off x="856832" y="491857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 วันแรก</a:t>
            </a:r>
            <a:endParaRPr lang="th-TH" sz="1850" dirty="0"/>
          </a:p>
        </p:txBody>
      </p:sp>
      <p:sp>
        <p:nvSpPr>
          <p:cNvPr id="32" name="Text 30"/>
          <p:cNvSpPr/>
          <p:nvPr/>
        </p:nvSpPr>
        <p:spPr>
          <a:xfrm>
            <a:off x="856832" y="5327253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&amp; Qualify — ยืนยันแบบ ผลิตภัณฑ์อ้างอิง และคุณสมบัติพาร์ทเนอร์</a:t>
            </a:r>
            <a:endParaRPr lang="th-TH" sz="1450" dirty="0"/>
          </a:p>
        </p:txBody>
      </p:sp>
      <p:sp>
        <p:nvSpPr>
          <p:cNvPr id="33" name="Shape 31"/>
          <p:cNvSpPr/>
          <p:nvPr/>
        </p:nvSpPr>
        <p:spPr>
          <a:xfrm>
            <a:off x="4286440" y="4729559"/>
            <a:ext cx="3618715" cy="13915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4" name="Shape 32"/>
          <p:cNvSpPr/>
          <p:nvPr/>
        </p:nvSpPr>
        <p:spPr>
          <a:xfrm>
            <a:off x="4286440" y="472955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35" name="Text 33"/>
          <p:cNvSpPr/>
          <p:nvPr/>
        </p:nvSpPr>
        <p:spPr>
          <a:xfrm>
            <a:off x="4475447" y="491857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 วัน</a:t>
            </a:r>
            <a:endParaRPr lang="th-TH" sz="1850" dirty="0"/>
          </a:p>
        </p:txBody>
      </p:sp>
      <p:sp>
        <p:nvSpPr>
          <p:cNvPr id="36" name="Text 34"/>
          <p:cNvSpPr/>
          <p:nvPr/>
        </p:nvSpPr>
        <p:spPr>
          <a:xfrm>
            <a:off x="4475447" y="532725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Validate — ผลิตและตรวจสอบ ระบบ ITP, NCR และ Digital Toolkit</a:t>
            </a:r>
            <a:endParaRPr lang="th-TH" sz="1450" dirty="0"/>
          </a:p>
        </p:txBody>
      </p:sp>
      <p:sp>
        <p:nvSpPr>
          <p:cNvPr id="37" name="Shape 35"/>
          <p:cNvSpPr/>
          <p:nvPr/>
        </p:nvSpPr>
        <p:spPr>
          <a:xfrm>
            <a:off x="7905155" y="4729559"/>
            <a:ext cx="3618715" cy="1391543"/>
          </a:xfrm>
          <a:custGeom>
            <a:avLst/>
            <a:gdLst/>
            <a:ahLst/>
            <a:cxnLst/>
            <a:rect l="l" t="t" r="r" b="b"/>
            <a:pathLst>
              <a:path w="3618715" h="1391543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325385"/>
                </a:lnTo>
                <a:arcTo wR="66156" hR="6615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38" name="Shape 36"/>
          <p:cNvSpPr/>
          <p:nvPr/>
        </p:nvSpPr>
        <p:spPr>
          <a:xfrm>
            <a:off x="7905155" y="472955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39" name="Text 37"/>
          <p:cNvSpPr/>
          <p:nvPr/>
        </p:nvSpPr>
        <p:spPr>
          <a:xfrm>
            <a:off x="8094162" y="491857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 วัน</a:t>
            </a:r>
            <a:endParaRPr lang="th-TH" sz="1850" dirty="0"/>
          </a:p>
        </p:txBody>
      </p:sp>
      <p:sp>
        <p:nvSpPr>
          <p:cNvPr id="40" name="Text 38"/>
          <p:cNvSpPr/>
          <p:nvPr/>
        </p:nvSpPr>
        <p:spPr>
          <a:xfrm>
            <a:off x="8094162" y="532725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h-TH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&amp; Decide — สรุปผล Pilot และตัดสินใจขยายระดับการผลิต</a:t>
            </a:r>
            <a:endParaRPr lang="th-TH" sz="1450" dirty="0"/>
          </a:p>
        </p:txBody>
      </p:sp>
      <p:sp>
        <p:nvSpPr>
          <p:cNvPr id="41" name="Text 39"/>
          <p:cNvSpPr/>
          <p:nvPr/>
        </p:nvSpPr>
        <p:spPr>
          <a:xfrm>
            <a:off x="11212827" y="6457255"/>
            <a:ext cx="846612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94711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822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 Decisions — สิ่งที่ต้องตัดสินใจ</a:t>
            </a:r>
            <a:endParaRPr lang="th-TH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861046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ผู้บริหารต้องยืนยันและอนุมัติประเด็นสำคัญเหล่านี้เพื่อให้ Pilot ดำเนินต่อได้อย่างมีประสิทธิภาพ</a:t>
            </a:r>
            <a:endParaRPr lang="th-TH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291854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7107" y="232370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9128" y="235029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ยืนยัน Reference Product</a:t>
            </a:r>
            <a:endParaRPr lang="th-TH" sz="1650" dirty="0"/>
          </a:p>
        </p:txBody>
      </p:sp>
      <p:sp>
        <p:nvSpPr>
          <p:cNvPr id="8" name="Text 5"/>
          <p:cNvSpPr/>
          <p:nvPr/>
        </p:nvSpPr>
        <p:spPr>
          <a:xfrm>
            <a:off x="5769128" y="2707779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กำหนดผลิตภัณฑ์อ้างอิงที่จะใช้เป็นฐานการผลิตและการวัดผล</a:t>
            </a:r>
            <a:endParaRPr lang="th-TH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327253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7107" y="330438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9128" y="333097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ปิดข้อตกลงกับ Manufacturing Partner</a:t>
            </a:r>
            <a:endParaRPr lang="th-TH" sz="1650" dirty="0"/>
          </a:p>
        </p:txBody>
      </p:sp>
      <p:sp>
        <p:nvSpPr>
          <p:cNvPr id="12" name="Text 9"/>
          <p:cNvSpPr/>
          <p:nvPr/>
        </p:nvSpPr>
        <p:spPr>
          <a:xfrm>
            <a:off x="5769128" y="3688457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สรุปเงื่อนไขและลงนามสัญญากับพาร์ทเนอร์การผลิต</a:t>
            </a:r>
            <a:endParaRPr lang="th-TH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25321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7107" y="428505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9128" y="4311650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อนุมัติ Engineering Basis และแทนที่ตัวเลข Placeholder</a:t>
            </a:r>
            <a:endParaRPr lang="th-TH" sz="1650" dirty="0"/>
          </a:p>
        </p:txBody>
      </p:sp>
      <p:sp>
        <p:nvSpPr>
          <p:cNvPr id="16" name="Text 13"/>
          <p:cNvSpPr/>
          <p:nvPr/>
        </p:nvSpPr>
        <p:spPr>
          <a:xfrm>
            <a:off x="5769128" y="4669135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ยืนยันฐานวิศวกรรมและแทนที่ค่าประมาณด้วยตัวเลขจริง</a:t>
            </a:r>
            <a:endParaRPr lang="th-TH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23388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7107" y="526573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769128" y="5292328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แต่งตั้ง Product Owner, Order Manager และ Gate Approvers</a:t>
            </a:r>
            <a:endParaRPr lang="th-TH" sz="1650" dirty="0"/>
          </a:p>
        </p:txBody>
      </p:sp>
      <p:sp>
        <p:nvSpPr>
          <p:cNvPr id="20" name="Text 17"/>
          <p:cNvSpPr/>
          <p:nvPr/>
        </p:nvSpPr>
        <p:spPr>
          <a:xfrm>
            <a:off x="5769128" y="5649813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กำหนดผู้รับผิดชอบชัดเจนในทุกระดับของกระบวนการ รวมถึงยืนยัน Brand และ Showroom</a:t>
            </a:r>
            <a:endParaRPr lang="th-TH" sz="1300" dirty="0"/>
          </a:p>
        </p:txBody>
      </p:sp>
      <p:sp>
        <p:nvSpPr>
          <p:cNvPr id="21" name="Text 18"/>
          <p:cNvSpPr/>
          <p:nvPr/>
        </p:nvSpPr>
        <p:spPr>
          <a:xfrm>
            <a:off x="11219574" y="6457255"/>
            <a:ext cx="839866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58109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510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Vision — ภาพอนาคตที่ต้องการ</a:t>
            </a:r>
            <a:endParaRPr lang="th-TH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977926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เมื่อระบบสมบูรณ์ ทุกคนในห่วงโซ่คุณค่าจะมองเห็นข้อมูลที่ต้องการ — ก่อนการตัดสินใจขยายกิจการ</a:t>
            </a:r>
            <a:endParaRPr lang="th-TH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08734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8005" y="2408734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ลูกค้าเลือกจาก Platform ที่ชัดเจน</a:t>
            </a:r>
            <a:endParaRPr lang="th-TH" sz="1650" dirty="0"/>
          </a:p>
        </p:txBody>
      </p:sp>
      <p:sp>
        <p:nvSpPr>
          <p:cNvPr id="7" name="Text 3"/>
          <p:cNvSpPr/>
          <p:nvPr/>
        </p:nvSpPr>
        <p:spPr>
          <a:xfrm>
            <a:off x="1278005" y="2766219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ตัวเลือกผลิตภัณฑ์ที่มีโครงสร้างชัดเจน ไม่สับสน พร้อม Configuration ที่ควบคุมโดยฝ่าย Design</a:t>
            </a:r>
            <a:endParaRPr lang="th-TH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589536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8005" y="3589536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โรงงานใช้ BOM, Traveler และ ITP</a:t>
            </a:r>
            <a:endParaRPr lang="th-TH" sz="1650" dirty="0"/>
          </a:p>
        </p:txBody>
      </p:sp>
      <p:sp>
        <p:nvSpPr>
          <p:cNvPr id="10" name="Text 5"/>
          <p:cNvSpPr/>
          <p:nvPr/>
        </p:nvSpPr>
        <p:spPr>
          <a:xfrm>
            <a:off x="1278005" y="3947021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กระบวนการผลิตมีเอกสารครบถ้วน ลดความผิดพลาด เพิ่มความสม่ำเสมอในทุกชิ้นงาน</a:t>
            </a:r>
            <a:endParaRPr lang="th-TH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511774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8005" y="4511774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ทุก Module มี Serial และ QR</a:t>
            </a:r>
            <a:endParaRPr lang="th-TH" sz="1650" dirty="0"/>
          </a:p>
        </p:txBody>
      </p:sp>
      <p:sp>
        <p:nvSpPr>
          <p:cNvPr id="13" name="Text 7"/>
          <p:cNvSpPr/>
          <p:nvPr/>
        </p:nvSpPr>
        <p:spPr>
          <a:xfrm>
            <a:off x="1278005" y="4869259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ติดตามได้ตลอดอายุการใช้งาน ตั้งแต่ออกแบบ ผลิต ส่งมอบ จนถึงการรับประกัน</a:t>
            </a:r>
            <a:endParaRPr lang="th-TH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434013"/>
            <a:ext cx="425241" cy="4252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78005" y="5434013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h-TH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บริษัทเห็นต้นทุน คุณภาพ Lead Time และ Warranty</a:t>
            </a:r>
            <a:endParaRPr lang="th-TH" sz="1650" dirty="0"/>
          </a:p>
        </p:txBody>
      </p:sp>
      <p:sp>
        <p:nvSpPr>
          <p:cNvPr id="16" name="Text 9"/>
          <p:cNvSpPr/>
          <p:nvPr/>
        </p:nvSpPr>
        <p:spPr>
          <a:xfrm>
            <a:off x="1278005" y="5791498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th-TH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ข้อมูลจริงจาก Source Records พร้อมก่อนตัดสินใจขยายระดับการผลิตอย่างมั่นใจ</a:t>
            </a:r>
            <a:endParaRPr lang="th-TH" sz="1300" dirty="0"/>
          </a:p>
        </p:txBody>
      </p:sp>
      <p:sp>
        <p:nvSpPr>
          <p:cNvPr id="17" name="Text 10"/>
          <p:cNvSpPr/>
          <p:nvPr/>
        </p:nvSpPr>
        <p:spPr>
          <a:xfrm>
            <a:off x="6640743" y="6457255"/>
            <a:ext cx="846811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7880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2959</Words>
  <Application>Microsoft Office PowerPoint</Application>
  <PresentationFormat>Widescreen</PresentationFormat>
  <Paragraphs>483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Inter Bold</vt:lpstr>
      <vt:lpstr>Inter Light</vt:lpstr>
      <vt:lpstr>Inter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Noppadon Pinitphol</cp:lastModifiedBy>
  <cp:revision>2</cp:revision>
  <dcterms:created xsi:type="dcterms:W3CDTF">2026-09-04T02:09:49Z</dcterms:created>
  <dcterms:modified xsi:type="dcterms:W3CDTF">2026-09-04T02:12:29Z</dcterms:modified>
</cp:coreProperties>
</file>